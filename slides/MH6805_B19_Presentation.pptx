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9"/>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Lst>
  <p:sldSz cx="18288000" cy="10287000"/>
  <p:notesSz cx="6858000" cy="9144000"/>
  <p:embeddedFontLst>
    <p:embeddedFont>
      <p:font typeface="Source Sans 3 Bold" charset="1" panose="020B0303030403020204"/>
      <p:regular r:id="rId32"/>
    </p:embeddedFont>
    <p:embeddedFont>
      <p:font typeface="Libre Franklin Bold" charset="1" panose="00000000000000000000"/>
      <p:regular r:id="rId33"/>
    </p:embeddedFont>
    <p:embeddedFont>
      <p:font typeface="Source Sans 3" charset="1" panose="020B0303030403020204"/>
      <p:regular r:id="rId3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notesMasters/notesMaster1.xml" Type="http://schemas.openxmlformats.org/officeDocument/2006/relationships/notesMaster"/><Relationship Id="rId3" Target="viewProps.xml" Type="http://schemas.openxmlformats.org/officeDocument/2006/relationships/viewProps"/><Relationship Id="rId30" Target="theme/theme2.xml" Type="http://schemas.openxmlformats.org/officeDocument/2006/relationships/theme"/><Relationship Id="rId31" Target="notesSlides/notesSlide1.xml" Type="http://schemas.openxmlformats.org/officeDocument/2006/relationships/notesSlide"/><Relationship Id="rId32" Target="fonts/font32.fntdata" Type="http://schemas.openxmlformats.org/officeDocument/2006/relationships/font"/><Relationship Id="rId33" Target="fonts/font33.fntdata" Type="http://schemas.openxmlformats.org/officeDocument/2006/relationships/font"/><Relationship Id="rId34" Target="fonts/font34.fntdata" Type="http://schemas.openxmlformats.org/officeDocument/2006/relationships/font"/><Relationship Id="rId35" Target="notesSlides/notesSlide2.xml" Type="http://schemas.openxmlformats.org/officeDocument/2006/relationships/notesSlide"/><Relationship Id="rId36" Target="notesSlides/notesSlide3.xml" Type="http://schemas.openxmlformats.org/officeDocument/2006/relationships/notesSlide"/><Relationship Id="rId37" Target="notesSlides/notesSlide4.xml" Type="http://schemas.openxmlformats.org/officeDocument/2006/relationships/notesSlide"/><Relationship Id="rId38" Target="notesSlides/notesSlide5.xml" Type="http://schemas.openxmlformats.org/officeDocument/2006/relationships/notesSlide"/><Relationship Id="rId39" Target="notesSlides/notesSlide6.xml" Type="http://schemas.openxmlformats.org/officeDocument/2006/relationships/notesSlide"/><Relationship Id="rId4" Target="theme/theme1.xml" Type="http://schemas.openxmlformats.org/officeDocument/2006/relationships/theme"/><Relationship Id="rId40" Target="notesSlides/notesSlide7.xml" Type="http://schemas.openxmlformats.org/officeDocument/2006/relationships/notesSlide"/><Relationship Id="rId41" Target="notesSlides/notesSlide8.xml" Type="http://schemas.openxmlformats.org/officeDocument/2006/relationships/notesSlide"/><Relationship Id="rId42" Target="notesSlides/notesSlide9.xml" Type="http://schemas.openxmlformats.org/officeDocument/2006/relationships/notesSlide"/><Relationship Id="rId43" Target="notesSlides/notesSlide10.xml" Type="http://schemas.openxmlformats.org/officeDocument/2006/relationships/notesSlide"/><Relationship Id="rId44" Target="notesSlides/notesSlide11.xml" Type="http://schemas.openxmlformats.org/officeDocument/2006/relationships/notesSlide"/><Relationship Id="rId45" Target="notesSlides/notesSlide12.xml" Type="http://schemas.openxmlformats.org/officeDocument/2006/relationships/notesSlide"/><Relationship Id="rId46" Target="notesSlides/notesSlide13.xml" Type="http://schemas.openxmlformats.org/officeDocument/2006/relationships/notesSlide"/><Relationship Id="rId47" Target="notesSlides/notesSlide14.xml" Type="http://schemas.openxmlformats.org/officeDocument/2006/relationships/notesSlide"/><Relationship Id="rId48" Target="notesSlides/notesSlide15.xml" Type="http://schemas.openxmlformats.org/officeDocument/2006/relationships/notesSlide"/><Relationship Id="rId49" Target="notesSlides/notesSlide16.xml" Type="http://schemas.openxmlformats.org/officeDocument/2006/relationships/notesSlide"/><Relationship Id="rId5" Target="tableStyles.xml" Type="http://schemas.openxmlformats.org/officeDocument/2006/relationships/tableStyles"/><Relationship Id="rId50" Target="notesSlides/notesSlide17.xml" Type="http://schemas.openxmlformats.org/officeDocument/2006/relationships/notesSlide"/><Relationship Id="rId51" Target="notesSlides/notesSlide18.xml" Type="http://schemas.openxmlformats.org/officeDocument/2006/relationships/notesSlide"/><Relationship Id="rId52" Target="notesSlides/notesSlide19.xml" Type="http://schemas.openxmlformats.org/officeDocument/2006/relationships/notesSlide"/><Relationship Id="rId53" Target="notesSlides/notesSlide20.xml" Type="http://schemas.openxmlformats.org/officeDocument/2006/relationships/notesSlide"/><Relationship Id="rId54" Target="notesSlides/notesSlide21.xml" Type="http://schemas.openxmlformats.org/officeDocument/2006/relationships/notesSlide"/><Relationship Id="rId55" Target="notesSlides/notesSlide22.xml" Type="http://schemas.openxmlformats.org/officeDocument/2006/relationships/notesSlide"/><Relationship Id="rId56" Target="notesSlides/notesSlide23.xml" Type="http://schemas.openxmlformats.org/officeDocument/2006/relationships/notesSlide"/><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[0:28 · RUAN Hangjing] Good morning, we are Group B19. Our question: which cardholders will miss next month's payment, and what should the bank do? Our short answer: where the bank sets its cut-off, the line for flagging clients, matters more than which model it uses. I'm RUAN: data, protocol and the simpler models; LU: the trees and what they rely on; LI: the comparison and the bank's decision.</a:t>
            </a:r>
          </a:p>
          <a:p>
            <a:r>
              <a:rPr lang="en-US"/>
              <a:t/>
            </a:r>
          </a:p>
          <a:p>
            <a:r>
              <a:rPr lang="en-US"/>
              <a:t>【0:28 · RUAN Hangjing】早上好，我们是 B19 组。我们的问题是：哪些持卡人下个月会逾期还款，银行又该怎么办？一句话答案：银行把判定线——也就是标记客户的那条线——划在哪里，比用哪个模型更重要。我是 RUAN：讲数据、实验规程和较简单的模型；LU：树模型以及模型依赖哪些输入；LI：模型比较和银行的决策。</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[0:27 · RUAN Hangjing] Our data come from a crisis: one Taiwanese bank's cardholders in 2005, as Taiwan's card-debt bubble burst; the central bank dates the first repayment problems to September 2005, the last month of our inputs. About 22 per cent default next month, so accuracy is useless: "nobody defaults" is 78 per cent right and catches no one. We judge ranking, and the cost of mistakes.</a:t>
            </a:r>
          </a:p>
          <a:p>
            <a:r>
              <a:rPr lang="en-US"/>
              <a:t/>
            </a:r>
          </a:p>
          <a:p>
            <a:r>
              <a:rPr lang="en-US"/>
              <a:t>【0:27 · RUAN Hangjing】我们的数据来自一场危机：台湾一家银行 2005 年的持卡人，正赶上台湾卡债泡沫破裂；台湾央行把还款问题最早浮现的时间定在 2005 年 9 月，正是我们输入变量的最后一个月。下个月约 22% 的客户违约，所以准确率没有意义：「没人违约」就有 78% 的准确率，却一个违约者也抓不到。我们看的是排序能力，以及犯错的代价。</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[0:24 · RUAN Hangjing] The strongest signal is the monthly repayment status: two months late, two-thirds default next month. But the codes are labels, not a scale: minus two is no spending, minus one paid in full, zero revolving, that is carrying a balance, and paid-in-full clients default more than revolving ones. So reading the codes as evenly spaced numbers misleads.</a:t>
            </a:r>
          </a:p>
          <a:p>
            <a:r>
              <a:rPr lang="en-US"/>
              <a:t/>
            </a:r>
          </a:p>
          <a:p>
            <a:r>
              <a:rPr lang="en-US"/>
              <a:t>【0:24 · RUAN Hangjing】最强的信号是每个月的还款状态：逾期两个月的客户，下个月有三分之二违约。但这些代码是标签，不是刻度：−2 是没有消费，−1 是全额还款，0 是循环信用、也就是带着余额，而全额还款的客户违约率反而高于循环信用的客户。所以把这些代码当成等距数字来读会误导。</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[0:28 · RUAN Hangjing] We made every choice on training data; the test set only reports. We locked away 30 per cent of clients as a test set, and chose settings and cut-offs by cross-validation on the rest: train on four folds, check on the fifth, rotate. Each model was frozen at its first test scoring, meaning its settings never changed afterwards, and a dated log lists every test read.</a:t>
            </a:r>
          </a:p>
          <a:p>
            <a:r>
              <a:rPr lang="en-US"/>
              <a:t/>
            </a:r>
          </a:p>
          <a:p>
            <a:r>
              <a:rPr lang="en-US"/>
              <a:t>【0:28 · RUAN Hangjing】所有选择都在训练数据上做，测试集只负责报告。我们把 30% 的客户锁起来做测试集，超参数和判定线都在其余数据上用交叉验证来选：四折训练、一折检验、轮换进行。每个模型在第一次测试打分时冻结，也就是此后设置再也不改；一份带日期的日志记下每一次读取测试集。</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[0:24 · RUAN Hangjing] Segments describe clients but do not improve prediction. K-means, grouping clients by similarity, finds five segments that overlap: silhouette 0.27, where one would mean cleanly separated. Their default rates differ mainly because the inputs include arrears, and the segment label adds nothing measurable to logistic regression. Segments are a map for policy, not a better score.</a:t>
            </a:r>
          </a:p>
          <a:p>
            <a:r>
              <a:rPr lang="en-US"/>
              <a:t/>
            </a:r>
          </a:p>
          <a:p>
            <a:r>
              <a:rPr lang="en-US"/>
              <a:t>【0:24 · RUAN Hangjing】分群能描述客户，但不能改进预测。K-means 按相似度给客户分组，找到五个彼此重叠的群：轮廓系数 0.27，1 才代表分得很开。各群违约率不同，主要是因为输入里本来就有逾期变量；把群标签加进逻辑回归，看不出任何可测的改进。分群是做政策的地图，不是更好的评分。</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[0:18 · RUAN Hangjing] Our benchmark is K-nearest neighbours: a client's risk is how often her most similar clients defaulted. It needs about a hundred neighbours, because default is noisy and a small vote is luck. Its AUC, the chance a defaulter outranks a payer, is 0.77.</a:t>
            </a:r>
          </a:p>
          <a:p>
            <a:r>
              <a:rPr lang="en-US"/>
              <a:t/>
            </a:r>
          </a:p>
          <a:p>
            <a:r>
              <a:rPr lang="en-US"/>
              <a:t>【0:18 · RUAN Hangjing】我们的基准是 K 近邻：一个客户的风险，就是和他最相似的那些客户里有多少人违约。它需要大约一百个邻居，因为违约很「吵」，邻居太少的投票靠运气。它的 AUC——随机一个违约者排在随机一个正常还款者前面的概率——是 0.77。</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[0:28 · RUAN Hangjing] The logistic regression, our transparent scorecard, reads each status code as one evenly spaced number. Coded by meaning instead, months late plus flags for "no spending" and "paid in full", it catches up with KNN in training cross-validation. KNN and the network gain nothing; they already treat each code as its own group. A cheap upgrade, but most of the gap to the tree models remains.</a:t>
            </a:r>
          </a:p>
          <a:p>
            <a:r>
              <a:rPr lang="en-US"/>
              <a:t>Hand-over (RUAN → LU): "Tree models can learn what a straight line misses. LU, over to you."</a:t>
            </a:r>
          </a:p>
          <a:p>
            <a:r>
              <a:rPr lang="en-US"/>
              <a:t/>
            </a:r>
          </a:p>
          <a:p>
            <a:r>
              <a:rPr lang="en-US"/>
              <a:t>【0:28 · RUAN Hangjing】逻辑回归是我们的透明评分卡，它把每个还款代码当成一个等距的数字来读。按含义重新编码——逾期月数，加上「无消费」和「全额还款」两个标记——它在训练集交叉验证上追平了 KNN。KNN 和神经网络本来就把每个代码当作单独的一组，所以没有提升。这是个便宜的升级，但与树模型的差距大部分还在。</a:t>
            </a:r>
          </a:p>
          <a:p>
            <a:r>
              <a:rPr lang="en-US"/>
              <a:t>交接（RUAN → LU）：「树模型能学到直线学不到的东西。LU，交给你。」</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[0:29 · LU Xinyu] A single tree, pruned to 17 if-then rules, already ties the KNN benchmark, and a bank can audit it line by line. Ensembles, many trees combined, go further: a random forest averages hundreds of trees grown on resampled clients, so errors cancel; boosting adds small trees one by one, each fixing the errors left. All three land about 0.025 above the logit and tie with each other.</a:t>
            </a:r>
          </a:p>
          <a:p>
            <a:r>
              <a:rPr lang="en-US"/>
              <a:t/>
            </a:r>
          </a:p>
          <a:p>
            <a:r>
              <a:rPr lang="en-US"/>
              <a:t>【0:29 · LU Xinyu】一棵决策树剪枝到 17 条「如果…那么…」规则，就已经和 KNN 基准打平，而且银行可以逐条审核。集成模型——把很多棵树组合起来——走得更远：随机森林把几百棵在重抽样客户上长出来的树取平均，误差互相抵消；提升法一棵接一棵地加小树，每棵修正前面剩下的错误。三个集成模型都比逻辑回归高约 0.025，彼此打平。</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[0:30 · LU Xinyu] Most of XGBoost's edge comes from curved one-variable effects, not interactions, where one variable changes another's effect. We tested this by limiting tree depth. A booster of one-split trees can learn any curve but no interaction, and it already recovers 86 per cent of XGBoost's lead over the plain logit. Allowing interactions adds only 0.004. So a points-based scorecard with curved bands should recover most of the gain and stay explainable.</a:t>
            </a:r>
          </a:p>
          <a:p>
            <a:r>
              <a:rPr lang="en-US"/>
              <a:t/>
            </a:r>
          </a:p>
          <a:p>
            <a:r>
              <a:rPr lang="en-US"/>
              <a:t>【0:30 · LU Xinyu】XGBoost 的优势大部分来自单个变量的弯曲效应，而不是交互效应——也就是一个变量改变另一个变量的作用。我们用限制树的深度来检验。只做一次分裂的树组成的提升模型能学任何曲线，但学不了交互，它已经找回了 XGBoost 领先普通逻辑回归幅度的 86%。允许交互只再多 0.004。所以一个按区间计分、带弯曲分段的评分卡，应该能拿回大部分收益，同时保持可解释。</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[0:22 · LU Xinyu] Behaviour beats demographics because next month's default is largely the next step of a delinquency process: arrears persist or deepen. Limit and demographics alone give XGBoost 0.63; adding September's record lifts it to 0.77. Older months add a little, through six-month summaries that tell a new slip from a chronic one.</a:t>
            </a:r>
          </a:p>
          <a:p>
            <a:r>
              <a:rPr lang="en-US"/>
              <a:t/>
            </a:r>
          </a:p>
          <a:p>
            <a:r>
              <a:rPr lang="en-US"/>
              <a:t>【0:22 · LU Xinyu】还款行为胜过人口属性，因为下个月违约很大程度上就是逾期过程的下一步：逾期会持续或加深。只用额度和人口属性，XGBoost 是 0.63；加上 9 月的还款记录，升到 0.77。更早的月份只多一点，通过六个月汇总变量起作用，用来区分偶尔失手和长期拖欠。</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[0:30 · LU Xinyu] Arrears push XGBoost's scores towards default; a larger limit pushes them away. SHAP splits each client's score into contributions from each input; each dot is a client, red a high value. Two cautions: the three delay columns repeat one signal, so read them together; and this describes the model, not causes: the bank gives large limits to clients it already trusts. Still, these are reasons a bank can give a customer.</a:t>
            </a:r>
          </a:p>
          <a:p>
            <a:r>
              <a:rPr lang="en-US"/>
              <a:t/>
            </a:r>
          </a:p>
          <a:p>
            <a:r>
              <a:rPr lang="en-US"/>
              <a:t>【0:30 · LU Xinyu】逾期把 XGBoost 的分数推向违约，额度越高则把分数往回拉。SHAP 把每个客户的分数拆成各个输入的贡献；每个点是一个客户，红色表示取值高。两点提醒：三个逾期变量重复的是同一个信号，要放在一起读；而且这描述的是模型，不是因果：银行本来就把高额度给它已经信任的客户。不过，这些正是银行可以向客户说明的理由。</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[0:30 · LU Xinyu] A monotone constraint fixes a direction: all else equal, falling further behind never lowers your predicted risk. From revolving credit into arrears, the free booster already obeys. Our frozen version also forced an order on "no spending", "paid in full" and "revolving", and made risk rise with utilisation, the bill over the limit; the data contradict both, and it cost 0.002. Constraining only lateness and the limit is almost free.</a:t>
            </a:r>
          </a:p>
          <a:p>
            <a:r>
              <a:rPr lang="en-US"/>
              <a:t/>
            </a:r>
          </a:p>
          <a:p>
            <a:r>
              <a:rPr lang="en-US"/>
              <a:t>【0:30 · LU Xinyu】单调约束是固定一个方向：其他条件不变时，拖欠得越久，预测风险绝不会下降。从循环信用进入逾期这一段，不加约束的提升模型本来就遵守这一点。我们冻结的版本还强行给「无消费」「全额还款」「循环信用」排了顺序，并让风险随使用率（账单除以额度）只升不降；数据并不支持这两点，代价是 0.002。只约束逾期程度和额度几乎没有代价。</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[0:31 · LU Xinyu] Sex, age, marriage and education barely help ranking: removing them costs XGBoost 0.002. Men default more often than women, and XGBoost's probabilities match each group, so it flags more men, including men who would repay. When groups differ in default rates, no score can match each group's rate and also make equal errors across groups. Dropping the columns narrows the sex gap but flags more under-thirties. A bank must choose, and document.</a:t>
            </a:r>
          </a:p>
          <a:p>
            <a:r>
              <a:rPr lang="en-US"/>
              <a:t>Hand-over (LU → LI): "LI will now line up the models and turn scores into decisions."</a:t>
            </a:r>
          </a:p>
          <a:p>
            <a:r>
              <a:rPr lang="en-US"/>
              <a:t/>
            </a:r>
          </a:p>
          <a:p>
            <a:r>
              <a:rPr lang="en-US"/>
              <a:t>【0:31 · LU Xinyu】性别、年龄、婚姻和教育对排序几乎没帮助：去掉它们，XGBoost 只损失 0.002。男性违约率高于女性，XGBoost 的概率与各群体吻合，所以它标记的男性更多，其中也包括本会按时还款的男性。当各群体违约率不同时，没有一个评分能既与各群体的违约率吻合、又让各群体的误判率相等。去掉这些列能缩小性别差距，却会标记更多 30 岁以下的人。银行必须自己选择，并记录在案。</a:t>
            </a:r>
          </a:p>
          <a:p>
            <a:r>
              <a:rPr lang="en-US"/>
              <a:t>交接（LU → LI）：「接下来 LI 把各个模型放在一起比较，并把分数变成决策。」</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[0:22 · LI Jingwen] The ranking holds in all five folds: ensembles first, then the neural network, then KNN, then the logit, so the gaps between tiers are not the luck of one split. Within the top three the order shuffles: a tie. On the test set XGBoost scores 0.789, close to its cross-validation score.</a:t>
            </a:r>
          </a:p>
          <a:p>
            <a:r>
              <a:rPr lang="en-US"/>
              <a:t/>
            </a:r>
          </a:p>
          <a:p>
            <a:r>
              <a:rPr lang="en-US"/>
              <a:t>【0:22 · LI Jingwen】五折中每一折的排名都一样：集成模型第一，然后是神经网络，然后是 KNN，然后是逻辑回归，所以梯队之间的差距不是某一次切分的运气。前三名的先后在各折之间来回变：打平。在测试集上 XGBoost 得到 0.789，与交叉验证分数很接近。</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[0:20 · LI Jingwen] These models rank near the benchmark, but some give distorted probabilities. The neural network, layers of curved boundaries, is fourth in every fold. LDA assumes bell-shaped amounts, yet bills are skewed; naive Bayes treats correlated bills as independent, so their probabilities are too extreme to price.</a:t>
            </a:r>
          </a:p>
          <a:p>
            <a:r>
              <a:rPr lang="en-US"/>
              <a:t/>
            </a:r>
          </a:p>
          <a:p>
            <a:r>
              <a:rPr lang="en-US"/>
              <a:t>【0:20 · LI Jingwen】这些模型的排序接近基准，但有的给出的概率是扭曲的。神经网络由层层弯曲的边界组成，每一折都排第四。LDA 假设金额呈钟形分布，可账单严重偏斜；朴素贝叶斯把相关的几期账单当成相互独立，所以它们的概率过于极端，不能用来定价。</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[0:27 · LI Jingwen] Weighting changes the probabilities, not the ranking: up-weighting defaulters mostly shifts the logit's intercept, its baseline log-odds, inflating every probability, the dotted lines. Platt scaling, a one-input logistic regression on training scores, restores them, yet the result is still slightly costlier than the plain logit. SMOTE, synthetic defaulters between real neighbours, even lowers the forest's AUC. Keep the real proportions; move the cut-off.</a:t>
            </a:r>
          </a:p>
          <a:p>
            <a:r>
              <a:rPr lang="en-US"/>
              <a:t/>
            </a:r>
          </a:p>
          <a:p>
            <a:r>
              <a:rPr lang="en-US"/>
              <a:t>【0:27 · LI Jingwen】加权改变的是概率，不是排序：给违约者加权，主要是平移了逻辑回归的截距，也就是基准对数几率，把所有概率都抬高（图中虚线）。Platt 缩放是在训练集分数上拟合的单输入逻辑回归，能把概率拉回来，但结果仍比普通逻辑回归略贵。SMOTE 在真实邻居之间造出合成违约者，反而让随机森林的 AUC 下降。保留真实比例，改动判定线就好。</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[0:20 · LI Jingwen] Resampling before the split fakes success. Create synthetic defaulters first, and many "test" defaulters are near-copies of training ones: the forest recognises its neighbours and scores 0.914, not an honest 0.774. Flexible models gain most from such leaks, so every resampler here runs inside the training folds.</a:t>
            </a:r>
          </a:p>
          <a:p>
            <a:r>
              <a:rPr lang="en-US"/>
              <a:t/>
            </a:r>
          </a:p>
          <a:p>
            <a:r>
              <a:rPr lang="en-US"/>
              <a:t>【0:20 · LI Jingwen】在切分之前重采样，会造出虚假的成功。如果先造合成违约者，很多「测试」违约者其实是训练违约者的近似副本：随机森林认出了自己的邻居，得到 0.914，而诚实的数字是 0.774。越灵活的模型越会从这种泄漏里「得益」，所以我们所有的重采样都只在训练折内部进行。</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[0:30 · LI Jingwen] Where the bank draws the line matters more than which model draws it. The usual coin-flip cut-off assumes both mistakes cost the same. Suppose, as a scenario borrowed from German credit data, a missed defaulter costs as much as five needless reminder calls. Moving the logit's cut-off saves the cost of 1,937 needless calls on the test set; switching to XGBoost saves 145 more, and that could be zero.</a:t>
            </a:r>
          </a:p>
          <a:p>
            <a:r>
              <a:rPr lang="en-US"/>
              <a:t/>
            </a:r>
          </a:p>
          <a:p>
            <a:r>
              <a:rPr lang="en-US"/>
              <a:t>【0:30 · LI Jingwen】银行把线划在哪里，比用哪个模型来划更重要。通常那条抛硬币式的判定线，假设两种错误代价相同。假设——这是借自德国信用数据的情景——漏掉一个违约者的代价，相当于五次不必要的提醒电话。那么相应下调逻辑回归的判定线，在测试集上能省下相当于 1,937 次不必要电话的成本；换成 XGBoost 再多省 145，而这个数也可能是零。</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[0:25 · LI Jingwen] The bank's true ratio is unknown, so we swept it. At r to one, one caught defaulter is worth r false alarms, so flag a client once the default chance tops one in r plus one. As the ratio rises the cut-off falls, and the cheapest model keeps changing, within about one per cent: we name no cost winner.</a:t>
            </a:r>
          </a:p>
          <a:p>
            <a:r>
              <a:rPr lang="en-US"/>
              <a:t/>
            </a:r>
          </a:p>
          <a:p>
            <a:r>
              <a:rPr lang="en-US"/>
              <a:t>【0:25 · LI Jingwen】银行真实的成本比是未知的，所以我们把它扫了一遍。比例为 r 比 1 时，抓到一个违约者值 r 次误报，所以只要违约概率超过 r+1 分之一就标记。比例越高，判定线越低；而最便宜的模型一直在换，差距只在百分之一左右：我们不宣布成本冠军。</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[0:23 · LI Jingwen] A one-line rule gets most of the way: flag anyone with any payment delay in six months. On training data XGBoost costs 7.7 per cent less, the logit almost nothing less. The rule misses the third of defaulters who were never late; that is where bills, the limit and utilisation earn their place.</a:t>
            </a:r>
          </a:p>
          <a:p>
            <a:r>
              <a:rPr lang="en-US"/>
              <a:t/>
            </a:r>
          </a:p>
          <a:p>
            <a:r>
              <a:rPr lang="en-US"/>
              <a:t>【0:23 · LI Jingwen】一条一句话的规则就能走完大半路程：六个月里只要有过一次逾期就标记。在训练数据上，XGBoost 只比它便宜 7.7%，逻辑回归几乎不比它便宜。这条规则漏掉的是从未逾期过的那三分之一违约者，账单、额度和使用率正是在那里发挥作用。</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[0:24 · LI Jingwen] Our answer holds within three limits. One bank at a crisis onset, and default rates swing over a cycle: rescale probabilities and test a later period. One test set read more than once, every read dated: a report card. And a borrowed cost ratio. So rank with any ensemble, and set the cut-off from costs.</a:t>
            </a:r>
          </a:p>
          <a:p>
            <a:r>
              <a:rPr lang="en-US"/>
              <a:t>Closing (LI): "Thank you — we welcome your questions." Then open the floor; each presenter takes questions on their own slides.</a:t>
            </a:r>
          </a:p>
          <a:p>
            <a:r>
              <a:rPr lang="en-US"/>
              <a:t/>
            </a:r>
          </a:p>
          <a:p>
            <a:r>
              <a:rPr lang="en-US"/>
              <a:t>【0:24 · LI Jingwen】我们的结论在三个局限之内成立。一，这是危机刚开始时一家银行的数据，而违约率会随周期大幅波动：要重新校准概率，并在更晚的时期上检验。二，测试集被读过不止一次，每次都记了日期：它是一份成绩单。三，成本比是借来的。所以，用任意一个集成模型排序，用成本来定判定线。</a:t>
            </a:r>
          </a:p>
          <a:p>
            <a:r>
              <a:rPr lang="en-US"/>
              <a:t>结束语（LI）：「谢谢，欢迎提问。」随后开放提问，每位同学回答自己负责那几页的问题。</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[A1 · not spoken; RUAN for nested CV, LI for Platt and the sweep, LU for settings] (not spoken) If asked: use the block that matches the question; every cell names its results file.</a:t>
            </a:r>
          </a:p>
          <a:p>
            <a:r>
              <a:rPr lang="en-US"/>
              <a:t/>
            </a:r>
          </a:p>
          <a:p>
            <a:r>
              <a:rPr lang="en-US"/>
              <a:t>【A1 · 不讲，备问；嵌套 CV 由 RUAN 答，Platt 和扫描由 LI 答，超参数设置由 LU 答】（不讲，备问）被问到时：找对应的那一块回答，每一格都写了结果文件名。</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[A2 · not spoken; LI for the sweep, RUAN for the crisis/cycle, LU for regulation] (not spoken) If asked "Do banks really use boosting and SHAP?": in the 2024 BoE–FCA survey, gradient boosting was the most common model type (32 % of use cases, §2.6), and feature importance (72 %) and Shapley additive explanations (64 %) were the most popular explainability approaches (§2.7, quoted as worded). These are present-day benchmarks; we claim no compliance.</a:t>
            </a:r>
          </a:p>
          <a:p>
            <a:r>
              <a:rPr lang="en-US"/>
              <a:t/>
            </a:r>
          </a:p>
          <a:p>
            <a:r>
              <a:rPr lang="en-US"/>
              <a:t>【A2 · 不讲，备问；扫描由 LI 答，危机与周期由 RUAN 答，监管由 LU 答】（不讲，备问）若被问「银行真的用提升树和 SHAP 吗？」：在 2024 年英格兰银行与英国金融行为监管局的调查中，梯度提升是最常见的模型类型（占用例的 32%，§2.6），特征重要性（72%）和 Shapley 加性解释（64%）是最常用的可解释性方法（§2.7，按原文措辞引用）。这些是当下的参照，我们不声称合规。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png" Type="http://schemas.openxmlformats.org/officeDocument/2006/relationships/image"/><Relationship Id="rId4" Target="../media/image3.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1.png" Type="http://schemas.openxmlformats.org/officeDocument/2006/relationships/image"/><Relationship Id="rId4" Target="../media/image4.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4.xml" Type="http://schemas.openxmlformats.org/officeDocument/2006/relationships/notesSlide"/><Relationship Id="rId3" Target="../media/image1.png" Type="http://schemas.openxmlformats.org/officeDocument/2006/relationships/image"/><Relationship Id="rId4" Target="../media/image5.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1.png" Type="http://schemas.openxmlformats.org/officeDocument/2006/relationships/image"/><Relationship Id="rId4" Target="../media/image6.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1.png" Type="http://schemas.openxmlformats.org/officeDocument/2006/relationships/image"/><Relationship Id="rId4" Target="../media/image7.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1.png" Type="http://schemas.openxmlformats.org/officeDocument/2006/relationships/image"/><Relationship Id="rId4" Target="../media/image8.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png" Type="http://schemas.openxmlformats.org/officeDocument/2006/relationships/image"/><Relationship Id="rId4" Target="../media/image9.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1.png" Type="http://schemas.openxmlformats.org/officeDocument/2006/relationships/image"/><Relationship Id="rId4" Target="../media/image10.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1.png" Type="http://schemas.openxmlformats.org/officeDocument/2006/relationships/image"/><Relationship Id="rId4" Target="../media/image11.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1.png" Type="http://schemas.openxmlformats.org/officeDocument/2006/relationships/image"/><Relationship Id="rId4" Target="../media/image12.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1.png" Type="http://schemas.openxmlformats.org/officeDocument/2006/relationships/image"/><Relationship Id="rId4" Target="../media/image13.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1.png" Type="http://schemas.openxmlformats.org/officeDocument/2006/relationships/image"/><Relationship Id="rId4" Target="../media/image14.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1.png" Type="http://schemas.openxmlformats.org/officeDocument/2006/relationships/image"/><Relationship Id="rId4" Target="../media/image15.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1.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1.png" Type="http://schemas.openxmlformats.org/officeDocument/2006/relationships/image"/><Relationship Id="rId4" Target="../media/image16.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1.png" Type="http://schemas.openxmlformats.org/officeDocument/2006/relationships/image"/><Relationship Id="rId4" Target="../media/image17.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1.png" Type="http://schemas.openxmlformats.org/officeDocument/2006/relationships/image"/><Relationship Id="rId4" Target="../media/image18.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1.png" Type="http://schemas.openxmlformats.org/officeDocument/2006/relationships/image"/><Relationship Id="rId4" Target="../media/image19.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 Id="rId3" Target="../media/image1.png" Type="http://schemas.openxmlformats.org/officeDocument/2006/relationships/image"/><Relationship Id="rId4" Target="../media/image20.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 Id="rId3" Target="../media/image1.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 Id="rId3" Target="../media/image1.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3.xml" Type="http://schemas.openxmlformats.org/officeDocument/2006/relationships/notesSlide"/><Relationship Id="rId3" Target="../media/image1.png" Type="http://schemas.openxmlformats.org/officeDocument/2006/relationships/image"/><Relationship Id="rId4" Target="../media/image21.png" Type="http://schemas.openxmlformats.org/officeDocument/2006/relationships/image"/><Relationship Id="rId5" Target="../media/image22.png" Type="http://schemas.openxmlformats.org/officeDocument/2006/relationships/image"/><Relationship Id="rId6" Target="../media/image23.png" Type="http://schemas.openxmlformats.org/officeDocument/2006/relationships/image"/><Relationship Id="rId7" Target="../media/image24.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01</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Taipei Times, 29 Sep 2006, page 12 headline: Fitch says credit, cash-card abuse saga will linger"/>
          <p:cNvSpPr/>
          <p:nvPr/>
        </p:nvSpPr>
        <p:spPr>
          <a:xfrm flipH="false" flipV="false" rot="0">
            <a:off x="9486900" y="2857500"/>
            <a:ext cx="7810500" cy="2843212"/>
          </a:xfrm>
          <a:custGeom>
            <a:avLst/>
            <a:gdLst/>
            <a:ahLst/>
            <a:cxnLst/>
            <a:rect r="r" b="b" t="t" l="l"/>
            <a:pathLst>
              <a:path h="2843212" w="7810500">
                <a:moveTo>
                  <a:pt x="0" y="0"/>
                </a:moveTo>
                <a:lnTo>
                  <a:pt x="7810500" y="0"/>
                </a:lnTo>
                <a:lnTo>
                  <a:pt x="7810500" y="2843212"/>
                </a:lnTo>
                <a:lnTo>
                  <a:pt x="0" y="2843212"/>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Card default: the cut-off matters more than the model</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Ten classifiers compared on training CV; three ensembles tie; the frozen test set only reports.</a:t>
            </a:r>
          </a:p>
        </p:txBody>
      </p:sp>
      <p:sp>
        <p:nvSpPr>
          <p:cNvPr name="TextBox 34" id="34"/>
          <p:cNvSpPr txBox="true"/>
          <p:nvPr/>
        </p:nvSpPr>
        <p:spPr>
          <a:xfrm rot="0">
            <a:off x="9486900" y="5810250"/>
            <a:ext cx="7810500" cy="306705"/>
          </a:xfrm>
          <a:prstGeom prst="rect">
            <a:avLst/>
          </a:prstGeom>
        </p:spPr>
        <p:txBody>
          <a:bodyPr anchor="t" rtlCol="false" tIns="0" lIns="0" bIns="0" rIns="0">
            <a:spAutoFit/>
          </a:bodyPr>
          <a:lstStyle/>
          <a:p>
            <a:pPr algn="l" marL="0" indent="0" lvl="0">
              <a:lnSpc>
                <a:spcPts val="2520"/>
              </a:lnSpc>
              <a:spcBef>
                <a:spcPct val="0"/>
              </a:spcBef>
            </a:pPr>
            <a:r>
              <a:rPr lang="en-US" sz="1800" strike="noStrike" u="none">
                <a:solidFill>
                  <a:srgbClr val="263746"/>
                </a:solidFill>
                <a:latin typeface="Source Sans 3"/>
                <a:ea typeface="Source Sans 3"/>
                <a:cs typeface="Source Sans 3"/>
                <a:sym typeface="Source Sans 3"/>
              </a:rPr>
              <a:t>Taipei Times, 29 Sep 2006: the crisis our data come from</a:t>
            </a:r>
          </a:p>
        </p:txBody>
      </p:sp>
      <p:sp>
        <p:nvSpPr>
          <p:cNvPr name="TextBox 35" id="35"/>
          <p:cNvSpPr txBox="true"/>
          <p:nvPr/>
        </p:nvSpPr>
        <p:spPr>
          <a:xfrm rot="0">
            <a:off x="990600" y="4933950"/>
            <a:ext cx="7524750" cy="830580"/>
          </a:xfrm>
          <a:prstGeom prst="rect">
            <a:avLst/>
          </a:prstGeom>
        </p:spPr>
        <p:txBody>
          <a:bodyPr anchor="t" rtlCol="false" tIns="0" lIns="0" bIns="0" rIns="0">
            <a:spAutoFit/>
          </a:bodyPr>
          <a:lstStyle/>
          <a:p>
            <a:pPr algn="l" marL="0" indent="0" lvl="0">
              <a:lnSpc>
                <a:spcPts val="3360"/>
              </a:lnSpc>
              <a:spcBef>
                <a:spcPct val="0"/>
              </a:spcBef>
            </a:pPr>
            <a:r>
              <a:rPr lang="en-US" sz="2625" strike="noStrike" u="none">
                <a:solidFill>
                  <a:srgbClr val="263746"/>
                </a:solidFill>
                <a:latin typeface="Source Sans 3"/>
                <a:ea typeface="Source Sans 3"/>
                <a:cs typeface="Source Sans 3"/>
                <a:sym typeface="Source Sans 3"/>
              </a:rPr>
              <a:t>MH6805 Machine Learning in Finance</a:t>
            </a:r>
          </a:p>
          <a:p>
            <a:pPr algn="l" marL="0" indent="0" lvl="0">
              <a:lnSpc>
                <a:spcPts val="3360"/>
              </a:lnSpc>
              <a:spcBef>
                <a:spcPct val="0"/>
              </a:spcBef>
            </a:pPr>
            <a:r>
              <a:rPr lang="en-US" sz="2625" strike="noStrike" u="none">
                <a:solidFill>
                  <a:srgbClr val="263746"/>
                </a:solidFill>
                <a:latin typeface="Source Sans 3"/>
                <a:ea typeface="Source Sans 3"/>
                <a:cs typeface="Source Sans 3"/>
                <a:sym typeface="Source Sans 3"/>
              </a:rPr>
              <a:t>Group B19 · 27 October 2026</a:t>
            </a:r>
          </a:p>
        </p:txBody>
      </p:sp>
      <p:sp>
        <p:nvSpPr>
          <p:cNvPr name="TextBox 36" id="36"/>
          <p:cNvSpPr txBox="true"/>
          <p:nvPr/>
        </p:nvSpPr>
        <p:spPr>
          <a:xfrm rot="0">
            <a:off x="990600" y="6629400"/>
            <a:ext cx="7810500" cy="1424940"/>
          </a:xfrm>
          <a:prstGeom prst="rect">
            <a:avLst/>
          </a:prstGeom>
        </p:spPr>
        <p:txBody>
          <a:bodyPr anchor="t" rtlCol="false" tIns="0" lIns="0" bIns="0" rIns="0">
            <a:spAutoFit/>
          </a:bodyPr>
          <a:lstStyle/>
          <a:p>
            <a:pPr algn="l" marL="0" indent="0" lvl="0">
              <a:lnSpc>
                <a:spcPts val="2310"/>
              </a:lnSpc>
              <a:spcBef>
                <a:spcPct val="0"/>
              </a:spcBef>
            </a:pPr>
            <a:r>
              <a:rPr lang="en-US" sz="1650" strike="noStrike" u="none">
                <a:solidFill>
                  <a:srgbClr val="263746"/>
                </a:solidFill>
                <a:latin typeface="Source Sans 3"/>
                <a:ea typeface="Source Sans 3"/>
                <a:cs typeface="Source Sans 3"/>
                <a:sym typeface="Source Sans 3"/>
              </a:rPr>
              <a:t>Contribution (draft, to confirm): RUAN 29% — KNN benchmark, logistic family, clustering, nested-CV pass · LU 29% — tree, forest, boosting, SHAP/PDP/monotone · LI 42% — SVM/MLP/discriminants, imbalance, leakage, protocol and freeze, cost analysis, deck. Per-section table in the report.</a:t>
            </a:r>
          </a:p>
          <a:p>
            <a:pPr algn="l" marL="0" indent="0" lvl="0">
              <a:lnSpc>
                <a:spcPts val="2310"/>
              </a:lnSpc>
              <a:spcBef>
                <a:spcPct val="0"/>
              </a:spcBef>
            </a:pPr>
            <a:r>
              <a:rPr lang="en-US" sz="1650" strike="noStrike" u="none">
                <a:solidFill>
                  <a:srgbClr val="263746"/>
                </a:solidFill>
                <a:latin typeface="Source Sans 3"/>
                <a:ea typeface="Source Sans 3"/>
                <a:cs typeface="Source Sans 3"/>
                <a:sym typeface="Source Sans 3"/>
              </a:rPr>
              <a:t>Presenting: RUAN 1–7 · LU 8–13 · LI 14–21</a:t>
            </a:r>
          </a:p>
        </p:txBody>
      </p:sp>
      <p:sp>
        <p:nvSpPr>
          <p:cNvPr name="TextBox 37" id="37"/>
          <p:cNvSpPr txBox="true"/>
          <p:nvPr/>
        </p:nvSpPr>
        <p:spPr>
          <a:xfrm rot="0">
            <a:off x="990600" y="2809875"/>
            <a:ext cx="7524750" cy="1243965"/>
          </a:xfrm>
          <a:prstGeom prst="rect">
            <a:avLst/>
          </a:prstGeom>
        </p:spPr>
        <p:txBody>
          <a:bodyPr anchor="t" rtlCol="false" tIns="0" lIns="0" bIns="0" rIns="0">
            <a:spAutoFit/>
          </a:bodyPr>
          <a:lstStyle/>
          <a:p>
            <a:pPr algn="l" marL="0" indent="0" lvl="0">
              <a:lnSpc>
                <a:spcPts val="3359"/>
              </a:lnSpc>
              <a:spcBef>
                <a:spcPct val="0"/>
              </a:spcBef>
            </a:pPr>
            <a:r>
              <a:rPr lang="en-US" b="true" sz="2400" strike="noStrike" u="none">
                <a:solidFill>
                  <a:srgbClr val="18395B"/>
                </a:solidFill>
                <a:latin typeface="Source Sans 3 Bold"/>
                <a:ea typeface="Source Sans 3 Bold"/>
                <a:cs typeface="Source Sans 3 Bold"/>
                <a:sym typeface="Source Sans 3 Bold"/>
              </a:rPr>
              <a:t>RUAN Hangjing · G2607546F</a:t>
            </a:r>
          </a:p>
          <a:p>
            <a:pPr algn="l" marL="0" indent="0" lvl="0">
              <a:lnSpc>
                <a:spcPts val="3359"/>
              </a:lnSpc>
              <a:spcBef>
                <a:spcPct val="0"/>
              </a:spcBef>
            </a:pPr>
            <a:r>
              <a:rPr lang="en-US" b="true" sz="2400" strike="noStrike" u="none">
                <a:solidFill>
                  <a:srgbClr val="18395B"/>
                </a:solidFill>
                <a:latin typeface="Source Sans 3 Bold"/>
                <a:ea typeface="Source Sans 3 Bold"/>
                <a:cs typeface="Source Sans 3 Bold"/>
                <a:sym typeface="Source Sans 3 Bold"/>
              </a:rPr>
              <a:t>LU Xinyu · G2603537D</a:t>
            </a:r>
          </a:p>
          <a:p>
            <a:pPr algn="l" marL="0" indent="0" lvl="0">
              <a:lnSpc>
                <a:spcPts val="3359"/>
              </a:lnSpc>
              <a:spcBef>
                <a:spcPct val="0"/>
              </a:spcBef>
            </a:pPr>
            <a:r>
              <a:rPr lang="en-US" b="true" sz="2400" strike="noStrike" u="none">
                <a:solidFill>
                  <a:srgbClr val="18395B"/>
                </a:solidFill>
                <a:latin typeface="Source Sans 3 Bold"/>
                <a:ea typeface="Source Sans 3 Bold"/>
                <a:cs typeface="Source Sans 3 Bold"/>
                <a:sym typeface="Source Sans 3 Bold"/>
              </a:rPr>
              <a:t>LI Jingwen · G2607526K</a:t>
            </a:r>
          </a:p>
        </p:txBody>
      </p:sp>
      <p:sp>
        <p:nvSpPr>
          <p:cNvPr name="TextBox 38" id="38"/>
          <p:cNvSpPr txBox="true"/>
          <p:nvPr/>
        </p:nvSpPr>
        <p:spPr>
          <a:xfrm rot="0">
            <a:off x="990600" y="8972550"/>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Taipei Times, 29 Sep 2006, p. 12, https://www.taipeitimes.com/News/biz/archives/2006/09/29/2003329739 · UCI Default of Credit Card Clients (Yeh &amp; Lien 2009), doi:10.24432/C55S3H, CC BY 4.0 · results/aggregate_summary.json</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02</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Taiwan credit-card revolving balances, end of month, 2004-2009: peak NT$495 bn in Nov 2005, NT$254 bn in Dec 2008 (-49%); UCI features Apr-Sep 2005 shaded"/>
          <p:cNvSpPr/>
          <p:nvPr/>
        </p:nvSpPr>
        <p:spPr>
          <a:xfrm flipH="false" flipV="false" rot="0">
            <a:off x="2476500" y="2047875"/>
            <a:ext cx="13335000" cy="6132195"/>
          </a:xfrm>
          <a:custGeom>
            <a:avLst/>
            <a:gdLst/>
            <a:ahLst/>
            <a:cxnLst/>
            <a:rect r="r" b="b" t="t" l="l"/>
            <a:pathLst>
              <a:path h="6132195" w="13335000">
                <a:moveTo>
                  <a:pt x="0" y="0"/>
                </a:moveTo>
                <a:lnTo>
                  <a:pt x="13335000" y="0"/>
                </a:lnTo>
                <a:lnTo>
                  <a:pt x="13335000" y="6132195"/>
                </a:lnTo>
                <a:lnTo>
                  <a:pt x="0" y="6132195"/>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Our data come from Taiwan’s 2005 card-debt crisis</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29,965 cardholders; 22.1% default next month; “nobody defaults” is 77.9% right, catches none.</a:t>
            </a:r>
          </a:p>
        </p:txBody>
      </p:sp>
      <p:sp>
        <p:nvSpPr>
          <p:cNvPr name="TextBox 34" id="34"/>
          <p:cNvSpPr txBox="true"/>
          <p:nvPr/>
        </p:nvSpPr>
        <p:spPr>
          <a:xfrm rot="0">
            <a:off x="990600" y="9020175"/>
            <a:ext cx="16306800" cy="470535"/>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FSC Banking Bureau, credit-card statistics (index-7.xlsx, OGDL v1.0), https://www.banking.gov.tw/webdowndoc?file=/stat/cc/index-7.xlsx · CBC Financial Stability Report, Jun 2008, Box 2, https://www.cbc.gov.tw/en/public/Attachment/931716211071.pdf · results/eda_summary.json</a:t>
            </a:r>
          </a:p>
        </p:txBody>
      </p:sp>
      <p:sp>
        <p:nvSpPr>
          <p:cNvPr name="TextBox 35" id="35"/>
          <p:cNvSpPr txBox="true"/>
          <p:nvPr/>
        </p:nvSpPr>
        <p:spPr>
          <a:xfrm rot="0">
            <a:off x="2476500" y="8305800"/>
            <a:ext cx="13335000" cy="306705"/>
          </a:xfrm>
          <a:prstGeom prst="rect">
            <a:avLst/>
          </a:prstGeom>
        </p:spPr>
        <p:txBody>
          <a:bodyPr anchor="t" rtlCol="false" tIns="0" lIns="0" bIns="0" rIns="0">
            <a:spAutoFit/>
          </a:bodyPr>
          <a:lstStyle/>
          <a:p>
            <a:pPr algn="ctr" marL="0" indent="0" lvl="0">
              <a:lnSpc>
                <a:spcPts val="2520"/>
              </a:lnSpc>
              <a:spcBef>
                <a:spcPct val="0"/>
              </a:spcBef>
            </a:pPr>
            <a:r>
              <a:rPr lang="en-US" sz="1800" strike="noStrike" u="none">
                <a:solidFill>
                  <a:srgbClr val="263746"/>
                </a:solidFill>
                <a:latin typeface="Source Sans 3"/>
                <a:ea typeface="Source Sans 3"/>
                <a:cs typeface="Source Sans 3"/>
                <a:sym typeface="Source Sans 3"/>
              </a:rPr>
              <a:t>Taiwan’s card revolving balances peaked in Nov 2005, then fell 49% by 2008</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03</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September default rate by repayment code, training rows: -2 13.7%, -1 16.9%, 0 12.9%, 1 month late 33.9%, 2 months late 67.6%, 3+ months late 72.9%"/>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Repayment codes are states, not a number line</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Two months late: 67.6% default; “paid in full” defaults more than “revolving” (16.9% vs 12.9%).</a:t>
            </a:r>
          </a:p>
        </p:txBody>
      </p:sp>
      <p:sp>
        <p:nvSpPr>
          <p:cNvPr name="TextBox 34" id="34"/>
          <p:cNvSpPr txBox="true"/>
          <p:nvPr/>
        </p:nvSpPr>
        <p:spPr>
          <a:xfrm rot="0">
            <a:off x="990600" y="9096375"/>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rows only (n = 20,975); results/pay_code_default_rates.csv, eda_summary.json; codes −2 and 0 are not defined in the UCI codebook</a:t>
            </a:r>
          </a:p>
        </p:txBody>
      </p:sp>
      <p:sp>
        <p:nvSpPr>
          <p:cNvPr name="TextBox 35" id="35"/>
          <p:cNvSpPr txBox="true"/>
          <p:nvPr/>
        </p:nvSpPr>
        <p:spPr>
          <a:xfrm rot="0">
            <a:off x="2952750" y="8343900"/>
            <a:ext cx="12382500" cy="306705"/>
          </a:xfrm>
          <a:prstGeom prst="rect">
            <a:avLst/>
          </a:prstGeom>
        </p:spPr>
        <p:txBody>
          <a:bodyPr anchor="t" rtlCol="false" tIns="0" lIns="0" bIns="0" rIns="0">
            <a:spAutoFit/>
          </a:bodyPr>
          <a:lstStyle/>
          <a:p>
            <a:pPr algn="ctr" marL="0" indent="0" lvl="0">
              <a:lnSpc>
                <a:spcPts val="2520"/>
              </a:lnSpc>
              <a:spcBef>
                <a:spcPct val="0"/>
              </a:spcBef>
            </a:pPr>
            <a:r>
              <a:rPr lang="en-US" sz="1800" strike="noStrike" u="none">
                <a:solidFill>
                  <a:srgbClr val="263746"/>
                </a:solidFill>
                <a:latin typeface="Source Sans 3"/>
                <a:ea typeface="Source Sans 3"/>
                <a:cs typeface="Source Sans 3"/>
                <a:sym typeface="Source Sans 3"/>
              </a:rPr>
              <a:t>September default rate by status code, training rows: −2, −1 and 0 have no order</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4" y="9686925"/>
            <a:ext cx="18287796" cy="600075"/>
            <a:chOff x="0" y="0"/>
            <a:chExt cx="24383727" cy="800100"/>
          </a:xfrm>
        </p:grpSpPr>
        <p:grpSp>
          <p:nvGrpSpPr>
            <p:cNvPr name="Group 6" id="6"/>
            <p:cNvGrpSpPr/>
            <p:nvPr/>
          </p:nvGrpSpPr>
          <p:grpSpPr>
            <a:xfrm rot="0">
              <a:off x="0" y="0"/>
              <a:ext cx="4368967" cy="800100"/>
              <a:chOff x="0" y="0"/>
              <a:chExt cx="5825289" cy="1066800"/>
            </a:xfrm>
          </p:grpSpPr>
          <p:sp>
            <p:nvSpPr>
              <p:cNvPr name="Freeform 7" id="7"/>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7" y="0"/>
              <a:ext cx="4368967" cy="800100"/>
              <a:chOff x="0" y="0"/>
              <a:chExt cx="5825289" cy="1066800"/>
            </a:xfrm>
          </p:grpSpPr>
          <p:sp>
            <p:nvSpPr>
              <p:cNvPr name="Freeform 10" id="10"/>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68BE8"/>
              </a:solidFill>
              <a:ln cap="sq">
                <a:noFill/>
                <a:prstDash val="solid"/>
                <a:miter/>
              </a:ln>
            </p:spPr>
          </p:sp>
          <p:sp>
            <p:nvSpPr>
              <p:cNvPr name="TextBox 11" id="11"/>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7" y="0"/>
              <a:ext cx="4368967" cy="800100"/>
              <a:chOff x="0" y="0"/>
              <a:chExt cx="5825289" cy="1066800"/>
            </a:xfrm>
          </p:grpSpPr>
          <p:sp>
            <p:nvSpPr>
              <p:cNvPr name="Freeform 13" id="13"/>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DBE8F2"/>
              </a:solidFill>
              <a:ln cap="sq">
                <a:noFill/>
                <a:prstDash val="solid"/>
                <a:miter/>
              </a:ln>
            </p:spPr>
          </p:sp>
          <p:sp>
            <p:nvSpPr>
              <p:cNvPr name="TextBox 14" id="14"/>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7" y="0"/>
              <a:ext cx="4368967" cy="800100"/>
              <a:chOff x="0" y="0"/>
              <a:chExt cx="5825289" cy="1066800"/>
            </a:xfrm>
          </p:grpSpPr>
          <p:sp>
            <p:nvSpPr>
              <p:cNvPr name="Freeform 16" id="16"/>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DBE8F2"/>
              </a:solidFill>
              <a:ln cap="sq">
                <a:noFill/>
                <a:prstDash val="solid"/>
                <a:miter/>
              </a:ln>
            </p:spPr>
          </p:sp>
          <p:sp>
            <p:nvSpPr>
              <p:cNvPr name="TextBox 17" id="17"/>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7" y="0"/>
              <a:ext cx="4368967" cy="800100"/>
              <a:chOff x="0" y="0"/>
              <a:chExt cx="5825289" cy="1066800"/>
            </a:xfrm>
          </p:grpSpPr>
          <p:sp>
            <p:nvSpPr>
              <p:cNvPr name="Freeform 19" id="19"/>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7"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9479"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1368"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325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Models</a:t>
              </a:r>
            </a:p>
          </p:txBody>
        </p:sp>
        <p:sp>
          <p:nvSpPr>
            <p:cNvPr name="TextBox 27" id="27"/>
            <p:cNvSpPr txBox="true"/>
            <p:nvPr/>
          </p:nvSpPr>
          <p:spPr>
            <a:xfrm rot="0">
              <a:off x="1343514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Results</a:t>
              </a:r>
            </a:p>
          </p:txBody>
        </p:sp>
        <p:sp>
          <p:nvSpPr>
            <p:cNvPr name="TextBox 28" id="28"/>
            <p:cNvSpPr txBox="true"/>
            <p:nvPr/>
          </p:nvSpPr>
          <p:spPr>
            <a:xfrm rot="0">
              <a:off x="17897036"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39833" y="142875"/>
              <a:ext cx="1361447"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04</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Protocol flow: 29,965 clients, one stratified 70/30 split, pipeline inside 5-fold CV, out-of-fold probabilities, freeze manifest of 46 configurations; test set 8,990 clients, each configuration frozen at first scoring, every read dated"/>
          <p:cNvSpPr/>
          <p:nvPr/>
        </p:nvSpPr>
        <p:spPr>
          <a:xfrm flipH="false" flipV="false" rot="0">
            <a:off x="990600" y="2047875"/>
            <a:ext cx="16306800" cy="6096000"/>
          </a:xfrm>
          <a:custGeom>
            <a:avLst/>
            <a:gdLst/>
            <a:ahLst/>
            <a:cxnLst/>
            <a:rect r="r" b="b" t="t" l="l"/>
            <a:pathLst>
              <a:path h="6096000" w="16306800">
                <a:moveTo>
                  <a:pt x="0" y="0"/>
                </a:moveTo>
                <a:lnTo>
                  <a:pt x="16306800" y="0"/>
                </a:lnTo>
                <a:lnTo>
                  <a:pt x="16306800" y="6096000"/>
                </a:lnTo>
                <a:lnTo>
                  <a:pt x="0" y="6096000"/>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Every choice made on training folds; test only reports</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Five-fold training CV picks settings and cut-offs; each model frozen at its first test scoring.</a:t>
            </a:r>
          </a:p>
        </p:txBody>
      </p:sp>
      <p:sp>
        <p:nvSpPr>
          <p:cNvPr name="TextBox 34" id="34"/>
          <p:cNvSpPr txBox="true"/>
          <p:nvPr/>
        </p:nvSpPr>
        <p:spPr>
          <a:xfrm rot="0">
            <a:off x="990600" y="9153525"/>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results/frozen_manifest.json (46 entries), TEST_SET_LOG.md (every test read, dated), nested_cv_summary_repro.json; code/freeze.py --check passes (freeze machinery: LI)</a:t>
            </a:r>
          </a:p>
        </p:txBody>
      </p:sp>
      <p:sp>
        <p:nvSpPr>
          <p:cNvPr name="TextBox 35" id="35"/>
          <p:cNvSpPr txBox="true"/>
          <p:nvPr/>
        </p:nvSpPr>
        <p:spPr>
          <a:xfrm rot="0">
            <a:off x="990600" y="8305800"/>
            <a:ext cx="16306800" cy="701040"/>
          </a:xfrm>
          <a:prstGeom prst="rect">
            <a:avLst/>
          </a:prstGeom>
        </p:spPr>
        <p:txBody>
          <a:bodyPr anchor="t" rtlCol="false" tIns="0" lIns="0" bIns="0" rIns="0">
            <a:spAutoFit/>
          </a:bodyPr>
          <a:lstStyle/>
          <a:p>
            <a:pPr algn="l" marL="0" indent="0" lvl="0">
              <a:lnSpc>
                <a:spcPts val="2835"/>
              </a:lnSpc>
              <a:spcBef>
                <a:spcPct val="0"/>
              </a:spcBef>
            </a:pPr>
            <a:r>
              <a:rPr lang="en-US" b="true" sz="2025" strike="noStrike" u="none">
                <a:solidFill>
                  <a:srgbClr val="18395B"/>
                </a:solidFill>
                <a:latin typeface="Libre Franklin Bold"/>
                <a:ea typeface="Libre Franklin Bold"/>
                <a:cs typeface="Libre Franklin Bold"/>
                <a:sym typeface="Libre Franklin Bold"/>
              </a:rPr>
              <a:t>Rule: models ranked by training CV AUC, cut-offs from training out-of-fold scores; a changed configuration is refused before any test label is read.</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4" y="9686925"/>
            <a:ext cx="18287796" cy="600075"/>
            <a:chOff x="0" y="0"/>
            <a:chExt cx="24383727" cy="800100"/>
          </a:xfrm>
        </p:grpSpPr>
        <p:grpSp>
          <p:nvGrpSpPr>
            <p:cNvPr name="Group 6" id="6"/>
            <p:cNvGrpSpPr/>
            <p:nvPr/>
          </p:nvGrpSpPr>
          <p:grpSpPr>
            <a:xfrm rot="0">
              <a:off x="0" y="0"/>
              <a:ext cx="4368967" cy="800100"/>
              <a:chOff x="0" y="0"/>
              <a:chExt cx="5825289" cy="1066800"/>
            </a:xfrm>
          </p:grpSpPr>
          <p:sp>
            <p:nvSpPr>
              <p:cNvPr name="Freeform 7" id="7"/>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7" y="0"/>
              <a:ext cx="4368967" cy="800100"/>
              <a:chOff x="0" y="0"/>
              <a:chExt cx="5825289" cy="1066800"/>
            </a:xfrm>
          </p:grpSpPr>
          <p:sp>
            <p:nvSpPr>
              <p:cNvPr name="Freeform 10" id="10"/>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7" y="0"/>
              <a:ext cx="4368967" cy="800100"/>
              <a:chOff x="0" y="0"/>
              <a:chExt cx="5825289" cy="1066800"/>
            </a:xfrm>
          </p:grpSpPr>
          <p:sp>
            <p:nvSpPr>
              <p:cNvPr name="Freeform 13" id="13"/>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68BE8"/>
              </a:solidFill>
              <a:ln cap="sq">
                <a:noFill/>
                <a:prstDash val="solid"/>
                <a:miter/>
              </a:ln>
            </p:spPr>
          </p:sp>
          <p:sp>
            <p:nvSpPr>
              <p:cNvPr name="TextBox 14" id="14"/>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7" y="0"/>
              <a:ext cx="4368967" cy="800100"/>
              <a:chOff x="0" y="0"/>
              <a:chExt cx="5825289" cy="1066800"/>
            </a:xfrm>
          </p:grpSpPr>
          <p:sp>
            <p:nvSpPr>
              <p:cNvPr name="Freeform 16" id="16"/>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DBE8F2"/>
              </a:solidFill>
              <a:ln cap="sq">
                <a:noFill/>
                <a:prstDash val="solid"/>
                <a:miter/>
              </a:ln>
            </p:spPr>
          </p:sp>
          <p:sp>
            <p:nvSpPr>
              <p:cNvPr name="TextBox 17" id="17"/>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7" y="0"/>
              <a:ext cx="4368967" cy="800100"/>
              <a:chOff x="0" y="0"/>
              <a:chExt cx="5825289" cy="1066800"/>
            </a:xfrm>
          </p:grpSpPr>
          <p:sp>
            <p:nvSpPr>
              <p:cNvPr name="Freeform 19" id="19"/>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7"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9479"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1368"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325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3514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Results</a:t>
              </a:r>
            </a:p>
          </p:txBody>
        </p:sp>
        <p:sp>
          <p:nvSpPr>
            <p:cNvPr name="TextBox 28" id="28"/>
            <p:cNvSpPr txBox="true"/>
            <p:nvPr/>
          </p:nvSpPr>
          <p:spPr>
            <a:xfrm rot="0">
              <a:off x="17897036"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39833" y="142875"/>
              <a:ext cx="1361447"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05</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K-means on 10 principal components, training set: silhouette by K (left, K = 5 at 0.27) and bootstrap stability by K (right, dashed line = usual stability bar 0.75)"/>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
        <p:nvSpPr>
          <p:cNvPr name="TextBox 32" id="32"/>
          <p:cNvSpPr txBox="true"/>
          <p:nvPr/>
        </p:nvSpPr>
        <p:spPr>
          <a:xfrm rot="0">
            <a:off x="990600" y="590550"/>
            <a:ext cx="140970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Segments describe the book; they do not price risk</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K-means finds five overlapping segments (silhouette 0.27); the label adds no measurable AUC.</a:t>
            </a:r>
          </a:p>
        </p:txBody>
      </p:sp>
      <p:sp>
        <p:nvSpPr>
          <p:cNvPr name="TextBox 34" id="34"/>
          <p:cNvSpPr txBox="true"/>
          <p:nvPr/>
        </p:nvSpPr>
        <p:spPr>
          <a:xfrm rot="0">
            <a:off x="990600" y="9096375"/>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rows only (RUAN’s 30 Sep analysis, reproduced 21 Oct); results/unsupervised_summary_repro.json, kmeans_selection_repro.csv, cluster_incremental_folds_repro.csv</a:t>
            </a:r>
          </a:p>
        </p:txBody>
      </p:sp>
      <p:sp>
        <p:nvSpPr>
          <p:cNvPr name="TextBox 35" id="35"/>
          <p:cNvSpPr txBox="true"/>
          <p:nvPr/>
        </p:nvSpPr>
        <p:spPr>
          <a:xfrm rot="0">
            <a:off x="2476500" y="8343900"/>
            <a:ext cx="13335000" cy="306705"/>
          </a:xfrm>
          <a:prstGeom prst="rect">
            <a:avLst/>
          </a:prstGeom>
        </p:spPr>
        <p:txBody>
          <a:bodyPr anchor="t" rtlCol="false" tIns="0" lIns="0" bIns="0" rIns="0">
            <a:spAutoFit/>
          </a:bodyPr>
          <a:lstStyle/>
          <a:p>
            <a:pPr algn="ctr" marL="0" indent="0" lvl="0">
              <a:lnSpc>
                <a:spcPts val="2520"/>
              </a:lnSpc>
              <a:spcBef>
                <a:spcPct val="0"/>
              </a:spcBef>
            </a:pPr>
            <a:r>
              <a:rPr lang="en-US" sz="1800" strike="noStrike" u="none">
                <a:solidFill>
                  <a:srgbClr val="263746"/>
                </a:solidFill>
                <a:latin typeface="Source Sans 3"/>
                <a:ea typeface="Source Sans 3"/>
                <a:cs typeface="Source Sans 3"/>
                <a:sym typeface="Source Sans 3"/>
              </a:rPr>
              <a:t>Silhouette (left) and bootstrap stability (right) by K, training rows; dashed line = usual stability bar 0.75</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06</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31" id="31"/>
          <p:cNvSpPr txBox="true"/>
          <p:nvPr/>
        </p:nvSpPr>
        <p:spPr>
          <a:xfrm rot="0">
            <a:off x="990600" y="590550"/>
            <a:ext cx="140970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The KNN benchmark needs about a hundred neighbours</a:t>
            </a:r>
          </a:p>
        </p:txBody>
      </p:sp>
      <p:sp>
        <p:nvSpPr>
          <p:cNvPr name="TextBox 32" id="32"/>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K = 101 reaches CV AUC 0.770; nested CV, re-tuning inside each fold, gives 0.768.</a:t>
            </a:r>
          </a:p>
        </p:txBody>
      </p:sp>
      <p:sp>
        <p:nvSpPr>
          <p:cNvPr name="TextBox 33" id="33"/>
          <p:cNvSpPr txBox="true"/>
          <p:nvPr/>
        </p:nvSpPr>
        <p:spPr>
          <a:xfrm rot="0">
            <a:off x="990600" y="9096375"/>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5-fold CV; results/knn.json, knn_k5.json, nested_cv_knn_frozen_grid.json, knn_dimensionality_cv.csv</a:t>
            </a:r>
          </a:p>
        </p:txBody>
      </p:sp>
      <p:sp>
        <p:nvSpPr>
          <p:cNvPr name="TextBox 34" id="34"/>
          <p:cNvSpPr txBox="true"/>
          <p:nvPr/>
        </p:nvSpPr>
        <p:spPr>
          <a:xfrm rot="0">
            <a:off x="2952750" y="8343900"/>
            <a:ext cx="12382500" cy="306705"/>
          </a:xfrm>
          <a:prstGeom prst="rect">
            <a:avLst/>
          </a:prstGeom>
        </p:spPr>
        <p:txBody>
          <a:bodyPr anchor="t" rtlCol="false" tIns="0" lIns="0" bIns="0" rIns="0">
            <a:spAutoFit/>
          </a:bodyPr>
          <a:lstStyle/>
          <a:p>
            <a:pPr algn="ctr" marL="0" indent="0" lvl="0">
              <a:lnSpc>
                <a:spcPts val="2520"/>
              </a:lnSpc>
              <a:spcBef>
                <a:spcPct val="0"/>
              </a:spcBef>
            </a:pPr>
            <a:r>
              <a:rPr lang="en-US" sz="1800" strike="noStrike" u="none">
                <a:solidFill>
                  <a:srgbClr val="263746"/>
                </a:solidFill>
                <a:latin typeface="Source Sans 3"/>
                <a:ea typeface="Source Sans 3"/>
                <a:cs typeface="Source Sans 3"/>
                <a:sym typeface="Source Sans 3"/>
              </a:rPr>
              <a:t>CV AUC rises with K and levels off near K = 101 (training folds)</a:t>
            </a:r>
          </a:p>
        </p:txBody>
      </p:sp>
      <p:sp>
        <p:nvSpPr>
          <p:cNvPr name="Freeform 35" id="35" descr="KNN benchmark: 5-fold CV AUC against K on the training folds, uniform and distance weights; rises with K and plateaus near K = 101 (CV AUC 0.770); K = 5 gives 0.706"/>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07</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31" id="31"/>
          <p:cNvSpPr txBox="true"/>
          <p:nvPr/>
        </p:nvSpPr>
        <p:spPr>
          <a:xfrm rot="0">
            <a:off x="990600" y="590550"/>
            <a:ext cx="140970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Why the logit trails: coding first, shape second</a:t>
            </a:r>
          </a:p>
        </p:txBody>
      </p:sp>
      <p:sp>
        <p:nvSpPr>
          <p:cNvPr name="TextBox 32" id="32"/>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Coding status by meaning lifts the logit from 0.760 to 0.768, level with KNN (training CV).</a:t>
            </a:r>
          </a:p>
        </p:txBody>
      </p:sp>
      <p:sp>
        <p:nvSpPr>
          <p:cNvPr name="TextBox 33" id="33"/>
          <p:cNvSpPr txBox="true"/>
          <p:nvPr/>
        </p:nvSpPr>
        <p:spPr>
          <a:xfrm rot="0">
            <a:off x="990600" y="9096375"/>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Post-freeze training CV, never test-scored; results/pay_coding_cv.csv, pay_coding_summary.json</a:t>
            </a:r>
          </a:p>
        </p:txBody>
      </p:sp>
      <p:sp>
        <p:nvSpPr>
          <p:cNvPr name="TextBox 34" id="34"/>
          <p:cNvSpPr txBox="true"/>
          <p:nvPr/>
        </p:nvSpPr>
        <p:spPr>
          <a:xfrm rot="0">
            <a:off x="2952750" y="8343900"/>
            <a:ext cx="12382500" cy="306705"/>
          </a:xfrm>
          <a:prstGeom prst="rect">
            <a:avLst/>
          </a:prstGeom>
        </p:spPr>
        <p:txBody>
          <a:bodyPr anchor="t" rtlCol="false" tIns="0" lIns="0" bIns="0" rIns="0">
            <a:spAutoFit/>
          </a:bodyPr>
          <a:lstStyle/>
          <a:p>
            <a:pPr algn="ctr" marL="0" indent="0" lvl="0">
              <a:lnSpc>
                <a:spcPts val="2520"/>
              </a:lnSpc>
              <a:spcBef>
                <a:spcPct val="0"/>
              </a:spcBef>
            </a:pPr>
            <a:r>
              <a:rPr lang="en-US" sz="1800" strike="noStrike" u="none">
                <a:solidFill>
                  <a:srgbClr val="263746"/>
                </a:solidFill>
                <a:latin typeface="Source Sans 3"/>
                <a:ea typeface="Source Sans 3"/>
                <a:cs typeface="Source Sans 3"/>
                <a:sym typeface="Source Sans 3"/>
              </a:rPr>
              <a:t>CV AUC, codes as numbers vs read by meaning: only the linear models gain</a:t>
            </a:r>
          </a:p>
        </p:txBody>
      </p:sp>
      <p:sp>
        <p:nvSpPr>
          <p:cNvPr name="Freeform 35" id="35" descr="5-fold CV AUC with repayment codes as one number vs read by meaning: logistic 0.760 to 0.768 and LDA 0.757 to 0.765 gain in 5/5 folds; KNN 0.770 to 0.768 and MLP 0.776 to 0.773 do not"/>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4" y="9686925"/>
            <a:ext cx="18287796" cy="600075"/>
            <a:chOff x="0" y="0"/>
            <a:chExt cx="24383727" cy="800100"/>
          </a:xfrm>
        </p:grpSpPr>
        <p:grpSp>
          <p:nvGrpSpPr>
            <p:cNvPr name="Group 6" id="6"/>
            <p:cNvGrpSpPr/>
            <p:nvPr/>
          </p:nvGrpSpPr>
          <p:grpSpPr>
            <a:xfrm rot="0">
              <a:off x="0" y="0"/>
              <a:ext cx="4368967" cy="800100"/>
              <a:chOff x="0" y="0"/>
              <a:chExt cx="5825289" cy="1066800"/>
            </a:xfrm>
          </p:grpSpPr>
          <p:sp>
            <p:nvSpPr>
              <p:cNvPr name="Freeform 7" id="7"/>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7" y="0"/>
              <a:ext cx="4368967" cy="800100"/>
              <a:chOff x="0" y="0"/>
              <a:chExt cx="5825289" cy="1066800"/>
            </a:xfrm>
          </p:grpSpPr>
          <p:sp>
            <p:nvSpPr>
              <p:cNvPr name="Freeform 10" id="10"/>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7" y="0"/>
              <a:ext cx="4368967" cy="800100"/>
              <a:chOff x="0" y="0"/>
              <a:chExt cx="5825289" cy="1066800"/>
            </a:xfrm>
          </p:grpSpPr>
          <p:sp>
            <p:nvSpPr>
              <p:cNvPr name="Freeform 13" id="13"/>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68BE8"/>
              </a:solidFill>
              <a:ln cap="sq">
                <a:noFill/>
                <a:prstDash val="solid"/>
                <a:miter/>
              </a:ln>
            </p:spPr>
          </p:sp>
          <p:sp>
            <p:nvSpPr>
              <p:cNvPr name="TextBox 14" id="14"/>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7" y="0"/>
              <a:ext cx="4368967" cy="800100"/>
              <a:chOff x="0" y="0"/>
              <a:chExt cx="5825289" cy="1066800"/>
            </a:xfrm>
          </p:grpSpPr>
          <p:sp>
            <p:nvSpPr>
              <p:cNvPr name="Freeform 16" id="16"/>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DBE8F2"/>
              </a:solidFill>
              <a:ln cap="sq">
                <a:noFill/>
                <a:prstDash val="solid"/>
                <a:miter/>
              </a:ln>
            </p:spPr>
          </p:sp>
          <p:sp>
            <p:nvSpPr>
              <p:cNvPr name="TextBox 17" id="17"/>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7" y="0"/>
              <a:ext cx="4368967" cy="800100"/>
              <a:chOff x="0" y="0"/>
              <a:chExt cx="5825289" cy="1066800"/>
            </a:xfrm>
          </p:grpSpPr>
          <p:sp>
            <p:nvSpPr>
              <p:cNvPr name="Freeform 19" id="19"/>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7"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9479"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1368"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325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3514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Results</a:t>
              </a:r>
            </a:p>
          </p:txBody>
        </p:sp>
        <p:sp>
          <p:nvSpPr>
            <p:cNvPr name="TextBox 28" id="28"/>
            <p:cNvSpPr txBox="true"/>
            <p:nvPr/>
          </p:nvSpPr>
          <p:spPr>
            <a:xfrm rot="0">
              <a:off x="17897036"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39833" y="142875"/>
              <a:ext cx="1361447"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08</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grpSp>
        <p:nvGrpSpPr>
          <p:cNvPr name="Group 31" id="31"/>
          <p:cNvGrpSpPr/>
          <p:nvPr/>
        </p:nvGrpSpPr>
        <p:grpSpPr>
          <a:xfrm rot="0">
            <a:off x="11677650" y="2171700"/>
            <a:ext cx="5619750" cy="1930403"/>
            <a:chOff x="0" y="0"/>
            <a:chExt cx="7493000" cy="2573871"/>
          </a:xfrm>
        </p:grpSpPr>
        <p:sp>
          <p:nvSpPr>
            <p:cNvPr name="Freeform 32" id="32"/>
            <p:cNvSpPr/>
            <p:nvPr/>
          </p:nvSpPr>
          <p:spPr>
            <a:xfrm flipH="false" flipV="false" rot="0">
              <a:off x="0" y="0"/>
              <a:ext cx="7493000" cy="2573871"/>
            </a:xfrm>
            <a:custGeom>
              <a:avLst/>
              <a:gdLst/>
              <a:ahLst/>
              <a:cxnLst/>
              <a:rect r="r" b="b" t="t" l="l"/>
              <a:pathLst>
                <a:path h="2573871" w="7493000">
                  <a:moveTo>
                    <a:pt x="0" y="0"/>
                  </a:moveTo>
                  <a:lnTo>
                    <a:pt x="7493000" y="0"/>
                  </a:lnTo>
                  <a:lnTo>
                    <a:pt x="7493000" y="2573871"/>
                  </a:lnTo>
                  <a:lnTo>
                    <a:pt x="0" y="2573871"/>
                  </a:lnTo>
                  <a:close/>
                </a:path>
              </a:pathLst>
            </a:custGeom>
            <a:solidFill>
              <a:srgbClr val="F4F8FB"/>
            </a:solidFill>
            <a:ln cap="sq">
              <a:noFill/>
              <a:prstDash val="solid"/>
              <a:miter/>
            </a:ln>
          </p:spPr>
        </p:sp>
        <p:sp>
          <p:nvSpPr>
            <p:cNvPr name="TextBox 33" id="33"/>
            <p:cNvSpPr txBox="true"/>
            <p:nvPr/>
          </p:nvSpPr>
          <p:spPr>
            <a:xfrm>
              <a:off x="0" y="-19050"/>
              <a:ext cx="7493000" cy="2592921"/>
            </a:xfrm>
            <a:prstGeom prst="rect">
              <a:avLst/>
            </a:prstGeom>
          </p:spPr>
          <p:txBody>
            <a:bodyPr anchor="ctr" rtlCol="false" tIns="50800" lIns="50800" bIns="50800" rIns="50800"/>
            <a:lstStyle/>
            <a:p>
              <a:pPr algn="l">
                <a:lnSpc>
                  <a:spcPts val="1679"/>
                </a:lnSpc>
              </a:pPr>
            </a:p>
          </p:txBody>
        </p:sp>
      </p:grpSp>
      <p:sp>
        <p:nvSpPr>
          <p:cNvPr name="TextBox 34" id="34"/>
          <p:cNvSpPr txBox="true"/>
          <p:nvPr/>
        </p:nvSpPr>
        <p:spPr>
          <a:xfrm rot="0">
            <a:off x="11906250" y="3048000"/>
            <a:ext cx="5162550" cy="691515"/>
          </a:xfrm>
          <a:prstGeom prst="rect">
            <a:avLst/>
          </a:prstGeom>
        </p:spPr>
        <p:txBody>
          <a:bodyPr anchor="t" rtlCol="false" tIns="0" lIns="0" bIns="0" rIns="0">
            <a:spAutoFit/>
          </a:bodyPr>
          <a:lstStyle/>
          <a:p>
            <a:pPr algn="l" marL="0" indent="0" lvl="0">
              <a:lnSpc>
                <a:spcPts val="2835"/>
              </a:lnSpc>
              <a:spcBef>
                <a:spcPct val="0"/>
              </a:spcBef>
            </a:pPr>
            <a:r>
              <a:rPr lang="en-US" sz="2025" strike="noStrike" u="none">
                <a:solidFill>
                  <a:srgbClr val="263746"/>
                </a:solidFill>
                <a:latin typeface="Source Sans 3"/>
                <a:ea typeface="Source Sans 3"/>
                <a:cs typeface="Source Sans 3"/>
                <a:sym typeface="Source Sans 3"/>
              </a:rPr>
              <a:t>17 rules, first split on worst delay; ties KNN (0.769)</a:t>
            </a:r>
          </a:p>
        </p:txBody>
      </p:sp>
      <p:grpSp>
        <p:nvGrpSpPr>
          <p:cNvPr name="Group 35" id="35"/>
          <p:cNvGrpSpPr/>
          <p:nvPr/>
        </p:nvGrpSpPr>
        <p:grpSpPr>
          <a:xfrm rot="0">
            <a:off x="11677650" y="4311653"/>
            <a:ext cx="5619750" cy="1930403"/>
            <a:chOff x="0" y="0"/>
            <a:chExt cx="7493000" cy="2573871"/>
          </a:xfrm>
        </p:grpSpPr>
        <p:sp>
          <p:nvSpPr>
            <p:cNvPr name="Freeform 36" id="36"/>
            <p:cNvSpPr/>
            <p:nvPr/>
          </p:nvSpPr>
          <p:spPr>
            <a:xfrm flipH="false" flipV="false" rot="0">
              <a:off x="0" y="0"/>
              <a:ext cx="7493000" cy="2573871"/>
            </a:xfrm>
            <a:custGeom>
              <a:avLst/>
              <a:gdLst/>
              <a:ahLst/>
              <a:cxnLst/>
              <a:rect r="r" b="b" t="t" l="l"/>
              <a:pathLst>
                <a:path h="2573871" w="7493000">
                  <a:moveTo>
                    <a:pt x="0" y="0"/>
                  </a:moveTo>
                  <a:lnTo>
                    <a:pt x="7493000" y="0"/>
                  </a:lnTo>
                  <a:lnTo>
                    <a:pt x="7493000" y="2573871"/>
                  </a:lnTo>
                  <a:lnTo>
                    <a:pt x="0" y="2573871"/>
                  </a:lnTo>
                  <a:close/>
                </a:path>
              </a:pathLst>
            </a:custGeom>
            <a:solidFill>
              <a:srgbClr val="F4F8FB"/>
            </a:solidFill>
            <a:ln cap="sq">
              <a:noFill/>
              <a:prstDash val="solid"/>
              <a:miter/>
            </a:ln>
          </p:spPr>
        </p:sp>
        <p:sp>
          <p:nvSpPr>
            <p:cNvPr name="TextBox 37" id="37"/>
            <p:cNvSpPr txBox="true"/>
            <p:nvPr/>
          </p:nvSpPr>
          <p:spPr>
            <a:xfrm>
              <a:off x="0" y="-19050"/>
              <a:ext cx="7493000" cy="2592921"/>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11906250" y="5187953"/>
            <a:ext cx="5162550" cy="691515"/>
          </a:xfrm>
          <a:prstGeom prst="rect">
            <a:avLst/>
          </a:prstGeom>
        </p:spPr>
        <p:txBody>
          <a:bodyPr anchor="t" rtlCol="false" tIns="0" lIns="0" bIns="0" rIns="0">
            <a:spAutoFit/>
          </a:bodyPr>
          <a:lstStyle/>
          <a:p>
            <a:pPr algn="l" marL="0" indent="0" lvl="0">
              <a:lnSpc>
                <a:spcPts val="2835"/>
              </a:lnSpc>
              <a:spcBef>
                <a:spcPct val="0"/>
              </a:spcBef>
            </a:pPr>
            <a:r>
              <a:rPr lang="en-US" sz="2025" strike="noStrike" u="none">
                <a:solidFill>
                  <a:srgbClr val="263746"/>
                </a:solidFill>
                <a:latin typeface="Source Sans 3"/>
                <a:ea typeface="Source Sans 3"/>
                <a:cs typeface="Source Sans 3"/>
                <a:sym typeface="Source Sans 3"/>
              </a:rPr>
              <a:t>Averages 500 trees grown on resampled clients: errors cancel</a:t>
            </a:r>
          </a:p>
        </p:txBody>
      </p:sp>
      <p:sp>
        <p:nvSpPr>
          <p:cNvPr name="TextBox 39" id="39"/>
          <p:cNvSpPr txBox="true"/>
          <p:nvPr/>
        </p:nvSpPr>
        <p:spPr>
          <a:xfrm rot="0">
            <a:off x="11906250" y="2543175"/>
            <a:ext cx="5162550" cy="430530"/>
          </a:xfrm>
          <a:prstGeom prst="rect">
            <a:avLst/>
          </a:prstGeom>
        </p:spPr>
        <p:txBody>
          <a:bodyPr anchor="t" rtlCol="false" tIns="0" lIns="0" bIns="0" rIns="0">
            <a:spAutoFit/>
          </a:bodyPr>
          <a:lstStyle/>
          <a:p>
            <a:pPr algn="l" marL="0" indent="0" lvl="0">
              <a:lnSpc>
                <a:spcPts val="3569"/>
              </a:lnSpc>
              <a:spcBef>
                <a:spcPct val="0"/>
              </a:spcBef>
            </a:pPr>
            <a:r>
              <a:rPr lang="en-US" b="true" sz="2550" strike="noStrike" u="none">
                <a:solidFill>
                  <a:srgbClr val="18395B"/>
                </a:solidFill>
                <a:latin typeface="Libre Franklin Bold"/>
                <a:ea typeface="Libre Franklin Bold"/>
                <a:cs typeface="Libre Franklin Bold"/>
                <a:sym typeface="Libre Franklin Bold"/>
              </a:rPr>
              <a:t>ONE TREE</a:t>
            </a:r>
          </a:p>
        </p:txBody>
      </p:sp>
      <p:sp>
        <p:nvSpPr>
          <p:cNvPr name="TextBox 40" id="40"/>
          <p:cNvSpPr txBox="true"/>
          <p:nvPr/>
        </p:nvSpPr>
        <p:spPr>
          <a:xfrm rot="0">
            <a:off x="11906250" y="4683128"/>
            <a:ext cx="5162550" cy="430530"/>
          </a:xfrm>
          <a:prstGeom prst="rect">
            <a:avLst/>
          </a:prstGeom>
        </p:spPr>
        <p:txBody>
          <a:bodyPr anchor="t" rtlCol="false" tIns="0" lIns="0" bIns="0" rIns="0">
            <a:spAutoFit/>
          </a:bodyPr>
          <a:lstStyle/>
          <a:p>
            <a:pPr algn="l" marL="0" indent="0" lvl="0">
              <a:lnSpc>
                <a:spcPts val="3569"/>
              </a:lnSpc>
              <a:spcBef>
                <a:spcPct val="0"/>
              </a:spcBef>
            </a:pPr>
            <a:r>
              <a:rPr lang="en-US" b="true" sz="2550" strike="noStrike" u="none">
                <a:solidFill>
                  <a:srgbClr val="18395B"/>
                </a:solidFill>
                <a:latin typeface="Libre Franklin Bold"/>
                <a:ea typeface="Libre Franklin Bold"/>
                <a:cs typeface="Libre Franklin Bold"/>
                <a:sym typeface="Libre Franklin Bold"/>
              </a:rPr>
              <a:t>RANDOM FOREST</a:t>
            </a:r>
          </a:p>
        </p:txBody>
      </p:sp>
      <p:grpSp>
        <p:nvGrpSpPr>
          <p:cNvPr name="Group 41" id="41"/>
          <p:cNvGrpSpPr/>
          <p:nvPr/>
        </p:nvGrpSpPr>
        <p:grpSpPr>
          <a:xfrm rot="0">
            <a:off x="11677650" y="6451597"/>
            <a:ext cx="5619750" cy="1930403"/>
            <a:chOff x="0" y="0"/>
            <a:chExt cx="7493000" cy="2573871"/>
          </a:xfrm>
        </p:grpSpPr>
        <p:sp>
          <p:nvSpPr>
            <p:cNvPr name="Freeform 42" id="42"/>
            <p:cNvSpPr/>
            <p:nvPr/>
          </p:nvSpPr>
          <p:spPr>
            <a:xfrm flipH="false" flipV="false" rot="0">
              <a:off x="0" y="0"/>
              <a:ext cx="7493000" cy="2573871"/>
            </a:xfrm>
            <a:custGeom>
              <a:avLst/>
              <a:gdLst/>
              <a:ahLst/>
              <a:cxnLst/>
              <a:rect r="r" b="b" t="t" l="l"/>
              <a:pathLst>
                <a:path h="2573871" w="7493000">
                  <a:moveTo>
                    <a:pt x="0" y="0"/>
                  </a:moveTo>
                  <a:lnTo>
                    <a:pt x="7493000" y="0"/>
                  </a:lnTo>
                  <a:lnTo>
                    <a:pt x="7493000" y="2573871"/>
                  </a:lnTo>
                  <a:lnTo>
                    <a:pt x="0" y="2573871"/>
                  </a:lnTo>
                  <a:close/>
                </a:path>
              </a:pathLst>
            </a:custGeom>
            <a:solidFill>
              <a:srgbClr val="F4F8FB"/>
            </a:solidFill>
            <a:ln cap="sq">
              <a:noFill/>
              <a:prstDash val="solid"/>
              <a:miter/>
            </a:ln>
          </p:spPr>
        </p:sp>
        <p:sp>
          <p:nvSpPr>
            <p:cNvPr name="TextBox 43" id="43"/>
            <p:cNvSpPr txBox="true"/>
            <p:nvPr/>
          </p:nvSpPr>
          <p:spPr>
            <a:xfrm>
              <a:off x="0" y="-19050"/>
              <a:ext cx="7493000" cy="2592921"/>
            </a:xfrm>
            <a:prstGeom prst="rect">
              <a:avLst/>
            </a:prstGeom>
          </p:spPr>
          <p:txBody>
            <a:bodyPr anchor="ctr" rtlCol="false" tIns="50800" lIns="50800" bIns="50800" rIns="50800"/>
            <a:lstStyle/>
            <a:p>
              <a:pPr algn="l">
                <a:lnSpc>
                  <a:spcPts val="1679"/>
                </a:lnSpc>
              </a:pPr>
            </a:p>
          </p:txBody>
        </p:sp>
      </p:grpSp>
      <p:sp>
        <p:nvSpPr>
          <p:cNvPr name="TextBox 44" id="44"/>
          <p:cNvSpPr txBox="true"/>
          <p:nvPr/>
        </p:nvSpPr>
        <p:spPr>
          <a:xfrm rot="0">
            <a:off x="11906250" y="6823072"/>
            <a:ext cx="5162550" cy="430530"/>
          </a:xfrm>
          <a:prstGeom prst="rect">
            <a:avLst/>
          </a:prstGeom>
        </p:spPr>
        <p:txBody>
          <a:bodyPr anchor="t" rtlCol="false" tIns="0" lIns="0" bIns="0" rIns="0">
            <a:spAutoFit/>
          </a:bodyPr>
          <a:lstStyle/>
          <a:p>
            <a:pPr algn="l" marL="0" indent="0" lvl="0">
              <a:lnSpc>
                <a:spcPts val="3569"/>
              </a:lnSpc>
              <a:spcBef>
                <a:spcPct val="0"/>
              </a:spcBef>
            </a:pPr>
            <a:r>
              <a:rPr lang="en-US" b="true" sz="2550" strike="noStrike" u="none">
                <a:solidFill>
                  <a:srgbClr val="18395B"/>
                </a:solidFill>
                <a:latin typeface="Libre Franklin Bold"/>
                <a:ea typeface="Libre Franklin Bold"/>
                <a:cs typeface="Libre Franklin Bold"/>
                <a:sym typeface="Libre Franklin Bold"/>
              </a:rPr>
              <a:t>BOOSTING</a:t>
            </a:r>
          </a:p>
        </p:txBody>
      </p:sp>
      <p:sp>
        <p:nvSpPr>
          <p:cNvPr name="TextBox 45" id="45"/>
          <p:cNvSpPr txBox="true"/>
          <p:nvPr/>
        </p:nvSpPr>
        <p:spPr>
          <a:xfrm rot="0">
            <a:off x="11906250" y="7327897"/>
            <a:ext cx="5162550" cy="339090"/>
          </a:xfrm>
          <a:prstGeom prst="rect">
            <a:avLst/>
          </a:prstGeom>
        </p:spPr>
        <p:txBody>
          <a:bodyPr anchor="t" rtlCol="false" tIns="0" lIns="0" bIns="0" rIns="0">
            <a:spAutoFit/>
          </a:bodyPr>
          <a:lstStyle/>
          <a:p>
            <a:pPr algn="l" marL="0" indent="0" lvl="0">
              <a:lnSpc>
                <a:spcPts val="2835"/>
              </a:lnSpc>
              <a:spcBef>
                <a:spcPct val="0"/>
              </a:spcBef>
            </a:pPr>
            <a:r>
              <a:rPr lang="en-US" sz="2025" strike="noStrike" u="none">
                <a:solidFill>
                  <a:srgbClr val="263746"/>
                </a:solidFill>
                <a:latin typeface="Source Sans 3"/>
                <a:ea typeface="Source Sans 3"/>
                <a:cs typeface="Source Sans 3"/>
                <a:sym typeface="Source Sans 3"/>
              </a:rPr>
              <a:t>Adds small trees, each fixing the errors left</a:t>
            </a:r>
          </a:p>
        </p:txBody>
      </p:sp>
      <p:sp>
        <p:nvSpPr>
          <p:cNvPr name="TextBox 46" id="46"/>
          <p:cNvSpPr txBox="true"/>
          <p:nvPr/>
        </p:nvSpPr>
        <p:spPr>
          <a:xfrm rot="0">
            <a:off x="990600" y="9096375"/>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5-fold CV; results/tree_pruned.json, tree_rules.txt, random_forest.json, gradient_boosting.json, xgboost.json, fold_stability.csv</a:t>
            </a:r>
          </a:p>
        </p:txBody>
      </p:sp>
      <p:sp>
        <p:nvSpPr>
          <p:cNvPr name="TextBox 47" id="47"/>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Pruned tree ties KNN; ensembles tie at the top</a:t>
            </a:r>
          </a:p>
        </p:txBody>
      </p:sp>
      <p:sp>
        <p:nvSpPr>
          <p:cNvPr name="TextBox 48" id="48"/>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Forest, gradient boosting and XGBoost reach CV AUC 0.785–0.786, about 0.025 above the logit.</a:t>
            </a:r>
          </a:p>
        </p:txBody>
      </p:sp>
      <p:grpSp>
        <p:nvGrpSpPr>
          <p:cNvPr name="Group 49" id="49"/>
          <p:cNvGrpSpPr/>
          <p:nvPr/>
        </p:nvGrpSpPr>
        <p:grpSpPr>
          <a:xfrm rot="0">
            <a:off x="11677650" y="2171700"/>
            <a:ext cx="5619750" cy="95250"/>
            <a:chOff x="0" y="0"/>
            <a:chExt cx="7493000" cy="127000"/>
          </a:xfrm>
        </p:grpSpPr>
        <p:sp>
          <p:nvSpPr>
            <p:cNvPr name="Freeform 50" id="50"/>
            <p:cNvSpPr/>
            <p:nvPr/>
          </p:nvSpPr>
          <p:spPr>
            <a:xfrm flipH="false" flipV="false" rot="0">
              <a:off x="0" y="0"/>
              <a:ext cx="7493000" cy="127000"/>
            </a:xfrm>
            <a:custGeom>
              <a:avLst/>
              <a:gdLst/>
              <a:ahLst/>
              <a:cxnLst/>
              <a:rect r="r" b="b" t="t" l="l"/>
              <a:pathLst>
                <a:path h="127000" w="7493000">
                  <a:moveTo>
                    <a:pt x="0" y="0"/>
                  </a:moveTo>
                  <a:lnTo>
                    <a:pt x="7493000" y="0"/>
                  </a:lnTo>
                  <a:lnTo>
                    <a:pt x="7493000" y="127000"/>
                  </a:lnTo>
                  <a:lnTo>
                    <a:pt x="0" y="127000"/>
                  </a:lnTo>
                  <a:close/>
                </a:path>
              </a:pathLst>
            </a:custGeom>
            <a:solidFill>
              <a:srgbClr val="168BE8"/>
            </a:solidFill>
          </p:spPr>
        </p:sp>
        <p:sp>
          <p:nvSpPr>
            <p:cNvPr name="TextBox 51" id="51"/>
            <p:cNvSpPr txBox="true"/>
            <p:nvPr/>
          </p:nvSpPr>
          <p:spPr>
            <a:xfrm>
              <a:off x="0" y="-19050"/>
              <a:ext cx="7493000" cy="146050"/>
            </a:xfrm>
            <a:prstGeom prst="rect">
              <a:avLst/>
            </a:prstGeom>
          </p:spPr>
          <p:txBody>
            <a:bodyPr anchor="ctr" rtlCol="false" tIns="50800" lIns="50800" bIns="50800" rIns="50800"/>
            <a:lstStyle/>
            <a:p>
              <a:pPr algn="l">
                <a:lnSpc>
                  <a:spcPts val="1679"/>
                </a:lnSpc>
              </a:pPr>
            </a:p>
          </p:txBody>
        </p:sp>
      </p:grpSp>
      <p:grpSp>
        <p:nvGrpSpPr>
          <p:cNvPr name="Group 52" id="52"/>
          <p:cNvGrpSpPr/>
          <p:nvPr/>
        </p:nvGrpSpPr>
        <p:grpSpPr>
          <a:xfrm rot="0">
            <a:off x="11677650" y="4311653"/>
            <a:ext cx="5619750" cy="95250"/>
            <a:chOff x="0" y="0"/>
            <a:chExt cx="7493000" cy="127000"/>
          </a:xfrm>
        </p:grpSpPr>
        <p:sp>
          <p:nvSpPr>
            <p:cNvPr name="Freeform 53" id="53"/>
            <p:cNvSpPr/>
            <p:nvPr/>
          </p:nvSpPr>
          <p:spPr>
            <a:xfrm flipH="false" flipV="false" rot="0">
              <a:off x="0" y="0"/>
              <a:ext cx="7493000" cy="127000"/>
            </a:xfrm>
            <a:custGeom>
              <a:avLst/>
              <a:gdLst/>
              <a:ahLst/>
              <a:cxnLst/>
              <a:rect r="r" b="b" t="t" l="l"/>
              <a:pathLst>
                <a:path h="127000" w="7493000">
                  <a:moveTo>
                    <a:pt x="0" y="0"/>
                  </a:moveTo>
                  <a:lnTo>
                    <a:pt x="7493000" y="0"/>
                  </a:lnTo>
                  <a:lnTo>
                    <a:pt x="7493000" y="127000"/>
                  </a:lnTo>
                  <a:lnTo>
                    <a:pt x="0" y="127000"/>
                  </a:lnTo>
                  <a:close/>
                </a:path>
              </a:pathLst>
            </a:custGeom>
            <a:solidFill>
              <a:srgbClr val="168BE8"/>
            </a:solidFill>
          </p:spPr>
        </p:sp>
        <p:sp>
          <p:nvSpPr>
            <p:cNvPr name="TextBox 54" id="54"/>
            <p:cNvSpPr txBox="true"/>
            <p:nvPr/>
          </p:nvSpPr>
          <p:spPr>
            <a:xfrm>
              <a:off x="0" y="-19050"/>
              <a:ext cx="7493000" cy="146050"/>
            </a:xfrm>
            <a:prstGeom prst="rect">
              <a:avLst/>
            </a:prstGeom>
          </p:spPr>
          <p:txBody>
            <a:bodyPr anchor="ctr" rtlCol="false" tIns="50800" lIns="50800" bIns="50800" rIns="50800"/>
            <a:lstStyle/>
            <a:p>
              <a:pPr algn="l">
                <a:lnSpc>
                  <a:spcPts val="1679"/>
                </a:lnSpc>
              </a:pPr>
            </a:p>
          </p:txBody>
        </p:sp>
      </p:grpSp>
      <p:grpSp>
        <p:nvGrpSpPr>
          <p:cNvPr name="Group 55" id="55"/>
          <p:cNvGrpSpPr/>
          <p:nvPr/>
        </p:nvGrpSpPr>
        <p:grpSpPr>
          <a:xfrm rot="0">
            <a:off x="11677650" y="6451597"/>
            <a:ext cx="5619750" cy="95250"/>
            <a:chOff x="0" y="0"/>
            <a:chExt cx="7493000" cy="127000"/>
          </a:xfrm>
        </p:grpSpPr>
        <p:sp>
          <p:nvSpPr>
            <p:cNvPr name="Freeform 56" id="56"/>
            <p:cNvSpPr/>
            <p:nvPr/>
          </p:nvSpPr>
          <p:spPr>
            <a:xfrm flipH="false" flipV="false" rot="0">
              <a:off x="0" y="0"/>
              <a:ext cx="7493000" cy="127000"/>
            </a:xfrm>
            <a:custGeom>
              <a:avLst/>
              <a:gdLst/>
              <a:ahLst/>
              <a:cxnLst/>
              <a:rect r="r" b="b" t="t" l="l"/>
              <a:pathLst>
                <a:path h="127000" w="7493000">
                  <a:moveTo>
                    <a:pt x="0" y="0"/>
                  </a:moveTo>
                  <a:lnTo>
                    <a:pt x="7493000" y="0"/>
                  </a:lnTo>
                  <a:lnTo>
                    <a:pt x="7493000" y="127000"/>
                  </a:lnTo>
                  <a:lnTo>
                    <a:pt x="0" y="127000"/>
                  </a:lnTo>
                  <a:close/>
                </a:path>
              </a:pathLst>
            </a:custGeom>
            <a:solidFill>
              <a:srgbClr val="168BE8"/>
            </a:solidFill>
          </p:spPr>
        </p:sp>
        <p:sp>
          <p:nvSpPr>
            <p:cNvPr name="TextBox 57" id="57"/>
            <p:cNvSpPr txBox="true"/>
            <p:nvPr/>
          </p:nvSpPr>
          <p:spPr>
            <a:xfrm>
              <a:off x="0" y="-19050"/>
              <a:ext cx="7493000" cy="146050"/>
            </a:xfrm>
            <a:prstGeom prst="rect">
              <a:avLst/>
            </a:prstGeom>
          </p:spPr>
          <p:txBody>
            <a:bodyPr anchor="ctr" rtlCol="false" tIns="50800" lIns="50800" bIns="50800" rIns="50800"/>
            <a:lstStyle/>
            <a:p>
              <a:pPr algn="l">
                <a:lnSpc>
                  <a:spcPts val="1679"/>
                </a:lnSpc>
              </a:pPr>
            </a:p>
          </p:txBody>
        </p:sp>
      </p:grpSp>
      <p:sp>
        <p:nvSpPr>
          <p:cNvPr name="Freeform 58" id="58" descr="Top of the pruned decision tree: first split on worst repayment delay, leading to the 17 if-then rules"/>
          <p:cNvSpPr/>
          <p:nvPr/>
        </p:nvSpPr>
        <p:spPr>
          <a:xfrm flipH="false" flipV="false" rot="0">
            <a:off x="990600" y="2171700"/>
            <a:ext cx="10382250" cy="6210300"/>
          </a:xfrm>
          <a:custGeom>
            <a:avLst/>
            <a:gdLst/>
            <a:ahLst/>
            <a:cxnLst/>
            <a:rect r="r" b="b" t="t" l="l"/>
            <a:pathLst>
              <a:path h="6210300" w="10382250">
                <a:moveTo>
                  <a:pt x="0" y="0"/>
                </a:moveTo>
                <a:lnTo>
                  <a:pt x="10382250" y="0"/>
                </a:lnTo>
                <a:lnTo>
                  <a:pt x="10382250" y="6210300"/>
                </a:lnTo>
                <a:lnTo>
                  <a:pt x="0" y="6210300"/>
                </a:lnTo>
                <a:lnTo>
                  <a:pt x="0" y="0"/>
                </a:lnTo>
                <a:close/>
              </a:path>
            </a:pathLst>
          </a:custGeom>
          <a:blipFill>
            <a:blip r:embed="rId4"/>
            <a:stretch>
              <a:fillRect l="-55" t="0" r="-55"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09</a:t>
              </a:r>
            </a:p>
          </p:txBody>
        </p:sp>
      </p:grpSp>
      <p:sp>
        <p:nvSpPr>
          <p:cNvPr name="TextBox 30" id="30"/>
          <p:cNvSpPr txBox="true"/>
          <p:nvPr/>
        </p:nvSpPr>
        <p:spPr>
          <a:xfrm rot="0">
            <a:off x="12706350" y="4981575"/>
            <a:ext cx="4591050" cy="683895"/>
          </a:xfrm>
          <a:prstGeom prst="rect">
            <a:avLst/>
          </a:prstGeom>
        </p:spPr>
        <p:txBody>
          <a:bodyPr anchor="t" rtlCol="false" tIns="0" lIns="0" bIns="0" rIns="0">
            <a:spAutoFit/>
          </a:bodyPr>
          <a:lstStyle/>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CV AUC by tree depth, rounds re-tuned; depth 1 means no interactions</a:t>
            </a:r>
          </a:p>
        </p:txBody>
      </p:sp>
      <p:sp>
        <p:nvSpPr>
          <p:cNvPr name="Freeform 31" id="31"/>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XGBoost’s edge is mostly shape, not interactions</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One-split trees recover 86% of XGBoost’s lead; interactions add only 0.004 (training CV).</a:t>
            </a:r>
          </a:p>
        </p:txBody>
      </p:sp>
      <p:sp>
        <p:nvSpPr>
          <p:cNvPr name="TextBox 34" id="34"/>
          <p:cNvSpPr txBox="true"/>
          <p:nvPr/>
        </p:nvSpPr>
        <p:spPr>
          <a:xfrm rot="0">
            <a:off x="990600" y="9096375"/>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Post-freeze training CV, never test-scored; results/ablation_depth.csv, pdp_summary.json; Friedman (2001)</a:t>
            </a:r>
          </a:p>
        </p:txBody>
      </p:sp>
      <p:sp>
        <p:nvSpPr>
          <p:cNvPr name="Freeform 35" id="35" descr="XGBoost CV AUC by tree depth 1 to 4 against the logit at 0.760: depth 1 recovers 86% of the lead, interactions add 0.004"/>
          <p:cNvSpPr/>
          <p:nvPr/>
        </p:nvSpPr>
        <p:spPr>
          <a:xfrm flipH="false" flipV="false" rot="0">
            <a:off x="990600" y="2047875"/>
            <a:ext cx="11334750" cy="6610350"/>
          </a:xfrm>
          <a:custGeom>
            <a:avLst/>
            <a:gdLst/>
            <a:ahLst/>
            <a:cxnLst/>
            <a:rect r="r" b="b" t="t" l="l"/>
            <a:pathLst>
              <a:path h="6610350" w="11334750">
                <a:moveTo>
                  <a:pt x="0" y="0"/>
                </a:moveTo>
                <a:lnTo>
                  <a:pt x="11334750" y="0"/>
                </a:lnTo>
                <a:lnTo>
                  <a:pt x="11334750" y="6610350"/>
                </a:lnTo>
                <a:lnTo>
                  <a:pt x="0" y="6610350"/>
                </a:lnTo>
                <a:lnTo>
                  <a:pt x="0" y="0"/>
                </a:lnTo>
                <a:close/>
              </a:path>
            </a:pathLst>
          </a:custGeom>
          <a:blipFill>
            <a:blip r:embed="rId4"/>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10</a:t>
              </a:r>
            </a:p>
          </p:txBody>
        </p:sp>
      </p:grpSp>
      <p:sp>
        <p:nvSpPr>
          <p:cNvPr name="TextBox 30" id="30"/>
          <p:cNvSpPr txBox="true"/>
          <p:nvPr/>
        </p:nvSpPr>
        <p:spPr>
          <a:xfrm rot="0">
            <a:off x="12706350" y="4819650"/>
            <a:ext cx="4591050" cy="1026795"/>
          </a:xfrm>
          <a:prstGeom prst="rect">
            <a:avLst/>
          </a:prstGeom>
        </p:spPr>
        <p:txBody>
          <a:bodyPr anchor="t" rtlCol="false" tIns="0" lIns="0" bIns="0" rIns="0">
            <a:spAutoFit/>
          </a:bodyPr>
          <a:lstStyle/>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CV AUC as repayment history is added: raw months only (dashed, open circles) vs plus summaries of the same months (solid)</a:t>
            </a:r>
          </a:p>
        </p:txBody>
      </p:sp>
      <p:sp>
        <p:nvSpPr>
          <p:cNvPr name="Freeform 31" id="31"/>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Last month’s record carries most of the signal</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September’s record lifts XGBoost from 0.63 to 0.77; older months add 0.017 (training CV).</a:t>
            </a:r>
          </a:p>
        </p:txBody>
      </p:sp>
      <p:sp>
        <p:nvSpPr>
          <p:cNvPr name="TextBox 34" id="34"/>
          <p:cNvSpPr txBox="true"/>
          <p:nvPr/>
        </p:nvSpPr>
        <p:spPr>
          <a:xfrm rot="0">
            <a:off x="990600" y="9096375"/>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Post-freeze training CV, never test-scored; results/ablation_history.csv, pay_code_default_rates.csv (roll rates)</a:t>
            </a:r>
          </a:p>
        </p:txBody>
      </p:sp>
      <p:sp>
        <p:nvSpPr>
          <p:cNvPr name="Freeform 35" id="35" descr="XGBoost CV AUC as repayment history is added: limit and demographics 0.630, plus September 0.769, plus July to September 0.784, plus April to September 0.786"/>
          <p:cNvSpPr/>
          <p:nvPr/>
        </p:nvSpPr>
        <p:spPr>
          <a:xfrm flipH="false" flipV="false" rot="0">
            <a:off x="990600" y="2047875"/>
            <a:ext cx="11334750" cy="6610350"/>
          </a:xfrm>
          <a:custGeom>
            <a:avLst/>
            <a:gdLst/>
            <a:ahLst/>
            <a:cxnLst/>
            <a:rect r="r" b="b" t="t" l="l"/>
            <a:pathLst>
              <a:path h="6610350" w="11334750">
                <a:moveTo>
                  <a:pt x="0" y="0"/>
                </a:moveTo>
                <a:lnTo>
                  <a:pt x="11334750" y="0"/>
                </a:lnTo>
                <a:lnTo>
                  <a:pt x="11334750" y="6610350"/>
                </a:lnTo>
                <a:lnTo>
                  <a:pt x="0" y="6610350"/>
                </a:lnTo>
                <a:lnTo>
                  <a:pt x="0" y="0"/>
                </a:lnTo>
                <a:close/>
              </a:path>
            </a:pathLst>
          </a:custGeom>
          <a:blipFill>
            <a:blip r:embed="rId4"/>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11</a:t>
              </a:r>
            </a:p>
          </p:txBody>
        </p:sp>
      </p:grpSp>
      <p:sp>
        <p:nvSpPr>
          <p:cNvPr name="TextBox 30" id="30"/>
          <p:cNvSpPr txBox="true"/>
          <p:nvPr/>
        </p:nvSpPr>
        <p:spPr>
          <a:xfrm rot="0">
            <a:off x="9944100" y="3648075"/>
            <a:ext cx="7353300" cy="3427095"/>
          </a:xfrm>
          <a:prstGeom prst="rect">
            <a:avLst/>
          </a:prstGeom>
        </p:spPr>
        <p:txBody>
          <a:bodyPr anchor="t" rtlCol="false" tIns="0" lIns="0" bIns="0" rIns="0">
            <a:spAutoFit/>
          </a:bodyPr>
          <a:lstStyle/>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TreeSHAP for XGBoost, 2,000 training clients; red = high value.</a:t>
            </a:r>
          </a:p>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PAY_1 = September status</a:t>
            </a:r>
          </a:p>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MAX_DELAY = worst delay in six months</a:t>
            </a:r>
          </a:p>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N_MONTHS_DELAYED = months in arrears</a:t>
            </a:r>
          </a:p>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(these three carry one signal)</a:t>
            </a:r>
          </a:p>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BILL_AMT1 / PAY_AMT1 = September bill / payment</a:t>
            </a:r>
          </a:p>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UTIL = bill ÷ limit</a:t>
            </a:r>
          </a:p>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LIMIT_BAL = credit limit</a:t>
            </a:r>
          </a:p>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MARRIAGE_2 = single</a:t>
            </a:r>
          </a:p>
          <a:p>
            <a:pPr algn="l" marL="0" indent="0" lvl="0">
              <a:lnSpc>
                <a:spcPts val="2729"/>
              </a:lnSpc>
              <a:spcBef>
                <a:spcPct val="0"/>
              </a:spcBef>
            </a:pPr>
            <a:r>
              <a:rPr lang="en-US" sz="1950" strike="noStrike" u="none">
                <a:solidFill>
                  <a:srgbClr val="263746"/>
                </a:solidFill>
                <a:latin typeface="Source Sans 3"/>
                <a:ea typeface="Source Sans 3"/>
                <a:cs typeface="Source Sans 3"/>
                <a:sym typeface="Source Sans 3"/>
              </a:rPr>
              <a:t>SEX_2 = female</a:t>
            </a:r>
          </a:p>
        </p:txBody>
      </p:sp>
      <p:sp>
        <p:nvSpPr>
          <p:cNvPr name="Freeform 31" id="31"/>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Arrears push scores up; a larger limit pulls down</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SHAP splits each score into input contributions; September status ranks first on every measure.</a:t>
            </a:r>
          </a:p>
        </p:txBody>
      </p:sp>
      <p:sp>
        <p:nvSpPr>
          <p:cNvPr name="TextBox 34" id="34"/>
          <p:cNvSpPr txBox="true"/>
          <p:nvPr/>
        </p:nvSpPr>
        <p:spPr>
          <a:xfrm rot="0">
            <a:off x="990600" y="9020175"/>
            <a:ext cx="16306800" cy="470535"/>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rows only; results/shap_importance.csv, shap_summary.json, rf_refit_drop_column.csv; Lundberg &amp; Lee (2017); MAS FEAT (2018) Principle 13, https://www.mas.gov.sg/publications/monographs-or-information-paper/2018/feat; BoE &amp; FCA (2024) §2.7, https://www.bankofengland.co.uk/report/2024/artificial-intelligence-in-uk-financial-services-2024</a:t>
            </a:r>
          </a:p>
        </p:txBody>
      </p:sp>
      <p:sp>
        <p:nvSpPr>
          <p:cNvPr name="Freeform 35" id="35" descr="TreeSHAP beeswarm for tuned XGBoost on 2,000 training clients: September status, maximum delay and months delayed push scores up; a larger credit limit pushes them down"/>
          <p:cNvSpPr/>
          <p:nvPr/>
        </p:nvSpPr>
        <p:spPr>
          <a:xfrm flipH="false" flipV="false" rot="0">
            <a:off x="990600" y="2047875"/>
            <a:ext cx="8572500" cy="6667500"/>
          </a:xfrm>
          <a:custGeom>
            <a:avLst/>
            <a:gdLst/>
            <a:ahLst/>
            <a:cxnLst/>
            <a:rect r="r" b="b" t="t" l="l"/>
            <a:pathLst>
              <a:path h="6667500" w="8572500">
                <a:moveTo>
                  <a:pt x="0" y="0"/>
                </a:moveTo>
                <a:lnTo>
                  <a:pt x="8572500" y="0"/>
                </a:lnTo>
                <a:lnTo>
                  <a:pt x="8572500" y="6667500"/>
                </a:lnTo>
                <a:lnTo>
                  <a:pt x="0" y="6667500"/>
                </a:lnTo>
                <a:lnTo>
                  <a:pt x="0" y="0"/>
                </a:lnTo>
                <a:close/>
              </a:path>
            </a:pathLst>
          </a:custGeom>
          <a:blipFill>
            <a:blip r:embed="rId4"/>
            <a:stretch>
              <a:fillRect l="0" t="0" r="0" b="0"/>
            </a:stretch>
          </a:blipFill>
        </p:spPr>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12</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Left: 200 training clients moved one September status step worse; free XGBoost never lowers risk from revolving into arrears. Right: CV AUC price, frozen constraint -0.002, lateness and limit only under 0.001"/>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Monotone constraints: promise only what credit logic guarantees</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Frozen version also orders −2/−1/0: costs 0.002 CV AUC; lateness and limit only: almost free.</a:t>
            </a:r>
          </a:p>
        </p:txBody>
      </p:sp>
      <p:sp>
        <p:nvSpPr>
          <p:cNvPr name="TextBox 34" id="34"/>
          <p:cNvSpPr txBox="true"/>
          <p:nvPr/>
        </p:nvSpPr>
        <p:spPr>
          <a:xfrm rot="0">
            <a:off x="990600" y="9020175"/>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Post-freeze training CV and training-row sweeps, never test-scored; results/monotone_check_consistent.csv (consistent sweep, 200 training clients), monotone_respec_cv.json; Chen &amp; Guestrin (2016)</a:t>
            </a:r>
          </a:p>
        </p:txBody>
      </p:sp>
      <p:sp>
        <p:nvSpPr>
          <p:cNvPr name="TextBox 35" id="35"/>
          <p:cNvSpPr txBox="true"/>
          <p:nvPr/>
        </p:nvSpPr>
        <p:spPr>
          <a:xfrm rot="0">
            <a:off x="2952750" y="8343900"/>
            <a:ext cx="12382500" cy="306705"/>
          </a:xfrm>
          <a:prstGeom prst="rect">
            <a:avLst/>
          </a:prstGeom>
        </p:spPr>
        <p:txBody>
          <a:bodyPr anchor="t" rtlCol="false" tIns="0" lIns="0" bIns="0" rIns="0">
            <a:spAutoFit/>
          </a:bodyPr>
          <a:lstStyle/>
          <a:p>
            <a:pPr algn="ctr" marL="0" indent="0" lvl="0">
              <a:lnSpc>
                <a:spcPts val="2520"/>
              </a:lnSpc>
              <a:spcBef>
                <a:spcPct val="0"/>
              </a:spcBef>
            </a:pPr>
            <a:r>
              <a:rPr lang="en-US" sz="1800" strike="noStrike" u="none">
                <a:solidFill>
                  <a:srgbClr val="263746"/>
                </a:solidFill>
                <a:latin typeface="Source Sans 3"/>
                <a:ea typeface="Source Sans 3"/>
                <a:cs typeface="Source Sans 3"/>
                <a:sym typeface="Source Sans 3"/>
              </a:rPr>
              <a:t>Left: 200 training clients, one status step worse. Right: CV AUC price of each constraint</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13</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Flag-rate ratios at the 5:1 cut-off for men vs women, married vs single and under 30 vs 30-39: observed default rate, XGBoost, logit and XGBoost without demographics"/>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Personal attributes add little, but force a fairness choice</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Dropping sex, age, marriage, education costs 0.002 CV AUC; no option is fair on every measure.</a:t>
            </a:r>
          </a:p>
        </p:txBody>
      </p:sp>
      <p:sp>
        <p:nvSpPr>
          <p:cNvPr name="TextBox 34" id="34"/>
          <p:cNvSpPr txBox="true"/>
          <p:nvPr/>
        </p:nvSpPr>
        <p:spPr>
          <a:xfrm rot="0">
            <a:off x="990600" y="9020175"/>
            <a:ext cx="16306800" cy="470535"/>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Post-freeze training-OOF diagnostic, not a compliance assessment; results/fairness_groups.csv, fairness_summary.json, ablation_demographics.csv; EU AI Act Annex III 5(b), https://eur-lex.europa.eu/eli/reg/2024/1689/oj; Kleinberg et al. (2017)</a:t>
            </a:r>
          </a:p>
        </p:txBody>
      </p:sp>
      <p:sp>
        <p:nvSpPr>
          <p:cNvPr name="TextBox 35" id="35"/>
          <p:cNvSpPr txBox="true"/>
          <p:nvPr/>
        </p:nvSpPr>
        <p:spPr>
          <a:xfrm rot="0">
            <a:off x="1524000" y="8343900"/>
            <a:ext cx="15240000" cy="306705"/>
          </a:xfrm>
          <a:prstGeom prst="rect">
            <a:avLst/>
          </a:prstGeom>
        </p:spPr>
        <p:txBody>
          <a:bodyPr anchor="t" rtlCol="false" tIns="0" lIns="0" bIns="0" rIns="0">
            <a:spAutoFit/>
          </a:bodyPr>
          <a:lstStyle/>
          <a:p>
            <a:pPr algn="ctr" marL="0" indent="0" lvl="0">
              <a:lnSpc>
                <a:spcPts val="2520"/>
              </a:lnSpc>
              <a:spcBef>
                <a:spcPct val="0"/>
              </a:spcBef>
            </a:pPr>
            <a:r>
              <a:rPr lang="en-US" sz="1800" strike="noStrike" u="none">
                <a:solidFill>
                  <a:srgbClr val="263746"/>
                </a:solidFill>
                <a:latin typeface="Source Sans 3"/>
                <a:ea typeface="Source Sans 3"/>
                <a:cs typeface="Source Sans 3"/>
                <a:sym typeface="Source Sans 3"/>
              </a:rPr>
              <a:t>Flag-rate and default-rate ratios to the reference group at the cost-based cut-off (5:1 scenario, slide 18), training out-of-fold</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9" y="9686925"/>
            <a:ext cx="18287791" cy="600075"/>
            <a:chOff x="0" y="0"/>
            <a:chExt cx="24383722"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2"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2"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2"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2"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2"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7848"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0095"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2342"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34589"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896837"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40535" y="142875"/>
              <a:ext cx="136070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14</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Left: per-fold training CV AUC of six core models; right: fold-paired gap to XGBoost with 95% intervals"/>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Four tiers hold in every fold; top three tie</a:t>
            </a:r>
          </a:p>
        </p:txBody>
      </p:sp>
      <p:sp>
        <p:nvSpPr>
          <p:cNvPr name="TextBox 33" id="33"/>
          <p:cNvSpPr txBox="true"/>
          <p:nvPr/>
        </p:nvSpPr>
        <p:spPr>
          <a:xfrm rot="0">
            <a:off x="990600" y="1400175"/>
            <a:ext cx="16306800" cy="430054"/>
          </a:xfrm>
          <a:prstGeom prst="rect">
            <a:avLst/>
          </a:prstGeom>
        </p:spPr>
        <p:txBody>
          <a:bodyPr anchor="t" rtlCol="false" tIns="0" lIns="0" bIns="0" rIns="0">
            <a:spAutoFit/>
          </a:bodyPr>
          <a:lstStyle/>
          <a:p>
            <a:pPr algn="l" marL="0" indent="0" lvl="0">
              <a:lnSpc>
                <a:spcPts val="3468"/>
              </a:lnSpc>
              <a:spcBef>
                <a:spcPct val="0"/>
              </a:spcBef>
            </a:pPr>
            <a:r>
              <a:rPr lang="en-US" b="true" sz="2775" strike="noStrike" u="none">
                <a:solidFill>
                  <a:srgbClr val="263746"/>
                </a:solidFill>
                <a:latin typeface="Source Sans 3 Bold"/>
                <a:ea typeface="Source Sans 3 Bold"/>
                <a:cs typeface="Source Sans 3 Bold"/>
                <a:sym typeface="Source Sans 3 Bold"/>
              </a:rPr>
              <a:t>Ensembles, network, KNN, then the logit, in every fold; XGBoost’s frozen test AUC is 0.789.</a:t>
            </a:r>
          </a:p>
        </p:txBody>
      </p:sp>
      <p:sp>
        <p:nvSpPr>
          <p:cNvPr name="TextBox 34" id="34"/>
          <p:cNvSpPr txBox="true"/>
          <p:nvPr/>
        </p:nvSpPr>
        <p:spPr>
          <a:xfrm rot="0">
            <a:off x="990600" y="9067800"/>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OOF of the frozen configurations; results/fold_stability.csv, fold_stability_summary.json; test (n = 8,990, reporting only): aggregate_summary.json, auc_bootstrap_ci.csv</a:t>
            </a:r>
          </a:p>
        </p:txBody>
      </p:sp>
      <p:sp>
        <p:nvSpPr>
          <p:cNvPr name="TextBox 35" id="35"/>
          <p:cNvSpPr txBox="true"/>
          <p:nvPr/>
        </p:nvSpPr>
        <p:spPr>
          <a:xfrm rot="0">
            <a:off x="2952750" y="8343900"/>
            <a:ext cx="12382500" cy="306705"/>
          </a:xfrm>
          <a:prstGeom prst="rect">
            <a:avLst/>
          </a:prstGeom>
        </p:spPr>
        <p:txBody>
          <a:bodyPr anchor="t" rtlCol="false" tIns="0" lIns="0" bIns="0" rIns="0">
            <a:spAutoFit/>
          </a:bodyPr>
          <a:lstStyle/>
          <a:p>
            <a:pPr algn="ctr" marL="0" indent="0" lvl="0">
              <a:lnSpc>
                <a:spcPts val="2520"/>
              </a:lnSpc>
              <a:spcBef>
                <a:spcPct val="0"/>
              </a:spcBef>
            </a:pPr>
            <a:r>
              <a:rPr lang="en-US" sz="1800" strike="noStrike" u="none">
                <a:solidFill>
                  <a:srgbClr val="263746"/>
                </a:solidFill>
                <a:latin typeface="Source Sans 3"/>
                <a:ea typeface="Source Sans 3"/>
                <a:cs typeface="Source Sans 3"/>
                <a:sym typeface="Source Sans 3"/>
              </a:rPr>
              <a:t>Per-fold training CV AUC (left) and fold-paired gap to XGBoost (right)</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9" y="9686925"/>
            <a:ext cx="18287791" cy="600075"/>
            <a:chOff x="0" y="0"/>
            <a:chExt cx="24383722"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2"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2"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2"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2"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2"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7848"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0095"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2342"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34589"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896837" y="209550"/>
              <a:ext cx="419201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40535" y="142875"/>
              <a:ext cx="136070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15</a:t>
              </a:r>
            </a:p>
          </p:txBody>
        </p:sp>
      </p:grpSp>
      <p:grpSp>
        <p:nvGrpSpPr>
          <p:cNvPr name="Group 30" id="30"/>
          <p:cNvGrpSpPr/>
          <p:nvPr/>
        </p:nvGrpSpPr>
        <p:grpSpPr>
          <a:xfrm rot="0">
            <a:off x="1333500" y="3143250"/>
            <a:ext cx="15963900" cy="47625"/>
            <a:chOff x="0" y="0"/>
            <a:chExt cx="21285200" cy="63500"/>
          </a:xfrm>
        </p:grpSpPr>
        <p:sp>
          <p:nvSpPr>
            <p:cNvPr name="Freeform 31" id="31"/>
            <p:cNvSpPr/>
            <p:nvPr/>
          </p:nvSpPr>
          <p:spPr>
            <a:xfrm flipH="false" flipV="false" rot="0">
              <a:off x="0" y="0"/>
              <a:ext cx="21285200" cy="63500"/>
            </a:xfrm>
            <a:custGeom>
              <a:avLst/>
              <a:gdLst/>
              <a:ahLst/>
              <a:cxnLst/>
              <a:rect r="r" b="b" t="t" l="l"/>
              <a:pathLst>
                <a:path h="63500" w="21285200">
                  <a:moveTo>
                    <a:pt x="0" y="0"/>
                  </a:moveTo>
                  <a:lnTo>
                    <a:pt x="21285200" y="0"/>
                  </a:lnTo>
                  <a:lnTo>
                    <a:pt x="21285200" y="63500"/>
                  </a:lnTo>
                  <a:lnTo>
                    <a:pt x="0" y="63500"/>
                  </a:lnTo>
                  <a:close/>
                </a:path>
              </a:pathLst>
            </a:custGeom>
            <a:solidFill>
              <a:srgbClr val="DBE8F2"/>
            </a:solidFill>
            <a:ln cap="sq">
              <a:noFill/>
              <a:prstDash val="solid"/>
              <a:miter/>
            </a:ln>
          </p:spPr>
        </p:sp>
        <p:sp>
          <p:nvSpPr>
            <p:cNvPr name="TextBox 32" id="32"/>
            <p:cNvSpPr txBox="true"/>
            <p:nvPr/>
          </p:nvSpPr>
          <p:spPr>
            <a:xfrm>
              <a:off x="0" y="-19050"/>
              <a:ext cx="21285200" cy="82550"/>
            </a:xfrm>
            <a:prstGeom prst="rect">
              <a:avLst/>
            </a:prstGeom>
          </p:spPr>
          <p:txBody>
            <a:bodyPr anchor="ctr" rtlCol="false" tIns="50800" lIns="50800" bIns="50800" rIns="50800"/>
            <a:lstStyle/>
            <a:p>
              <a:pPr algn="l">
                <a:lnSpc>
                  <a:spcPts val="1679"/>
                </a:lnSpc>
              </a:pPr>
            </a:p>
          </p:txBody>
        </p:sp>
      </p:grpSp>
      <p:grpSp>
        <p:nvGrpSpPr>
          <p:cNvPr name="Group 33" id="33"/>
          <p:cNvGrpSpPr/>
          <p:nvPr/>
        </p:nvGrpSpPr>
        <p:grpSpPr>
          <a:xfrm rot="0">
            <a:off x="1333500" y="4762500"/>
            <a:ext cx="15963900" cy="47625"/>
            <a:chOff x="0" y="0"/>
            <a:chExt cx="21285200" cy="63500"/>
          </a:xfrm>
        </p:grpSpPr>
        <p:sp>
          <p:nvSpPr>
            <p:cNvPr name="Freeform 34" id="34"/>
            <p:cNvSpPr/>
            <p:nvPr/>
          </p:nvSpPr>
          <p:spPr>
            <a:xfrm flipH="false" flipV="false" rot="0">
              <a:off x="0" y="0"/>
              <a:ext cx="21285200" cy="63500"/>
            </a:xfrm>
            <a:custGeom>
              <a:avLst/>
              <a:gdLst/>
              <a:ahLst/>
              <a:cxnLst/>
              <a:rect r="r" b="b" t="t" l="l"/>
              <a:pathLst>
                <a:path h="63500" w="21285200">
                  <a:moveTo>
                    <a:pt x="0" y="0"/>
                  </a:moveTo>
                  <a:lnTo>
                    <a:pt x="21285200" y="0"/>
                  </a:lnTo>
                  <a:lnTo>
                    <a:pt x="21285200" y="63500"/>
                  </a:lnTo>
                  <a:lnTo>
                    <a:pt x="0" y="63500"/>
                  </a:lnTo>
                  <a:close/>
                </a:path>
              </a:pathLst>
            </a:custGeom>
            <a:solidFill>
              <a:srgbClr val="DBE8F2"/>
            </a:solidFill>
            <a:ln cap="sq">
              <a:noFill/>
              <a:prstDash val="solid"/>
              <a:miter/>
            </a:ln>
          </p:spPr>
        </p:sp>
        <p:sp>
          <p:nvSpPr>
            <p:cNvPr name="TextBox 35" id="35"/>
            <p:cNvSpPr txBox="true"/>
            <p:nvPr/>
          </p:nvSpPr>
          <p:spPr>
            <a:xfrm>
              <a:off x="0" y="-19050"/>
              <a:ext cx="21285200" cy="82550"/>
            </a:xfrm>
            <a:prstGeom prst="rect">
              <a:avLst/>
            </a:prstGeom>
          </p:spPr>
          <p:txBody>
            <a:bodyPr anchor="ctr" rtlCol="false" tIns="50800" lIns="50800" bIns="50800" rIns="50800"/>
            <a:lstStyle/>
            <a:p>
              <a:pPr algn="l">
                <a:lnSpc>
                  <a:spcPts val="1679"/>
                </a:lnSpc>
              </a:pPr>
            </a:p>
          </p:txBody>
        </p:sp>
      </p:grpSp>
      <p:grpSp>
        <p:nvGrpSpPr>
          <p:cNvPr name="Group 36" id="36"/>
          <p:cNvGrpSpPr/>
          <p:nvPr/>
        </p:nvGrpSpPr>
        <p:grpSpPr>
          <a:xfrm rot="0">
            <a:off x="1333500" y="6381750"/>
            <a:ext cx="15963900" cy="47625"/>
            <a:chOff x="0" y="0"/>
            <a:chExt cx="21285200" cy="63500"/>
          </a:xfrm>
        </p:grpSpPr>
        <p:sp>
          <p:nvSpPr>
            <p:cNvPr name="Freeform 37" id="37"/>
            <p:cNvSpPr/>
            <p:nvPr/>
          </p:nvSpPr>
          <p:spPr>
            <a:xfrm flipH="false" flipV="false" rot="0">
              <a:off x="0" y="0"/>
              <a:ext cx="21285200" cy="63500"/>
            </a:xfrm>
            <a:custGeom>
              <a:avLst/>
              <a:gdLst/>
              <a:ahLst/>
              <a:cxnLst/>
              <a:rect r="r" b="b" t="t" l="l"/>
              <a:pathLst>
                <a:path h="63500" w="21285200">
                  <a:moveTo>
                    <a:pt x="0" y="0"/>
                  </a:moveTo>
                  <a:lnTo>
                    <a:pt x="21285200" y="0"/>
                  </a:lnTo>
                  <a:lnTo>
                    <a:pt x="21285200" y="63500"/>
                  </a:lnTo>
                  <a:lnTo>
                    <a:pt x="0" y="63500"/>
                  </a:lnTo>
                  <a:close/>
                </a:path>
              </a:pathLst>
            </a:custGeom>
            <a:solidFill>
              <a:srgbClr val="DBE8F2"/>
            </a:solidFill>
            <a:ln cap="sq">
              <a:noFill/>
              <a:prstDash val="solid"/>
              <a:miter/>
            </a:ln>
          </p:spPr>
        </p:sp>
        <p:sp>
          <p:nvSpPr>
            <p:cNvPr name="TextBox 38" id="38"/>
            <p:cNvSpPr txBox="true"/>
            <p:nvPr/>
          </p:nvSpPr>
          <p:spPr>
            <a:xfrm>
              <a:off x="0" y="-19050"/>
              <a:ext cx="21285200" cy="82550"/>
            </a:xfrm>
            <a:prstGeom prst="rect">
              <a:avLst/>
            </a:prstGeom>
          </p:spPr>
          <p:txBody>
            <a:bodyPr anchor="ctr" rtlCol="false" tIns="50800" lIns="50800" bIns="50800" rIns="50800"/>
            <a:lstStyle/>
            <a:p>
              <a:pPr algn="l">
                <a:lnSpc>
                  <a:spcPts val="1679"/>
                </a:lnSpc>
              </a:pPr>
            </a:p>
          </p:txBody>
        </p:sp>
      </p:grpSp>
      <p:grpSp>
        <p:nvGrpSpPr>
          <p:cNvPr name="Group 39" id="39"/>
          <p:cNvGrpSpPr/>
          <p:nvPr/>
        </p:nvGrpSpPr>
        <p:grpSpPr>
          <a:xfrm rot="0">
            <a:off x="1333500" y="8001000"/>
            <a:ext cx="15963900" cy="47625"/>
            <a:chOff x="0" y="0"/>
            <a:chExt cx="21285200" cy="63500"/>
          </a:xfrm>
        </p:grpSpPr>
        <p:sp>
          <p:nvSpPr>
            <p:cNvPr name="Freeform 40" id="40"/>
            <p:cNvSpPr/>
            <p:nvPr/>
          </p:nvSpPr>
          <p:spPr>
            <a:xfrm flipH="false" flipV="false" rot="0">
              <a:off x="0" y="0"/>
              <a:ext cx="21285200" cy="63500"/>
            </a:xfrm>
            <a:custGeom>
              <a:avLst/>
              <a:gdLst/>
              <a:ahLst/>
              <a:cxnLst/>
              <a:rect r="r" b="b" t="t" l="l"/>
              <a:pathLst>
                <a:path h="63500" w="21285200">
                  <a:moveTo>
                    <a:pt x="0" y="0"/>
                  </a:moveTo>
                  <a:lnTo>
                    <a:pt x="21285200" y="0"/>
                  </a:lnTo>
                  <a:lnTo>
                    <a:pt x="21285200" y="63500"/>
                  </a:lnTo>
                  <a:lnTo>
                    <a:pt x="0" y="63500"/>
                  </a:lnTo>
                  <a:close/>
                </a:path>
              </a:pathLst>
            </a:custGeom>
            <a:solidFill>
              <a:srgbClr val="DBE8F2"/>
            </a:solidFill>
            <a:ln cap="sq">
              <a:noFill/>
              <a:prstDash val="solid"/>
              <a:miter/>
            </a:ln>
          </p:spPr>
        </p:sp>
        <p:sp>
          <p:nvSpPr>
            <p:cNvPr name="TextBox 41" id="41"/>
            <p:cNvSpPr txBox="true"/>
            <p:nvPr/>
          </p:nvSpPr>
          <p:spPr>
            <a:xfrm>
              <a:off x="0" y="-19050"/>
              <a:ext cx="21285200" cy="82550"/>
            </a:xfrm>
            <a:prstGeom prst="rect">
              <a:avLst/>
            </a:prstGeom>
          </p:spPr>
          <p:txBody>
            <a:bodyPr anchor="ctr" rtlCol="false" tIns="50800" lIns="50800" bIns="50800" rIns="50800"/>
            <a:lstStyle/>
            <a:p>
              <a:pPr algn="l">
                <a:lnSpc>
                  <a:spcPts val="1679"/>
                </a:lnSpc>
              </a:pPr>
            </a:p>
          </p:txBody>
        </p:sp>
      </p:grpSp>
      <p:sp>
        <p:nvSpPr>
          <p:cNvPr name="Freeform 42" id="42"/>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43" id="43"/>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Four more families: close in ranking, not in probabilities</a:t>
            </a:r>
          </a:p>
        </p:txBody>
      </p:sp>
      <p:sp>
        <p:nvSpPr>
          <p:cNvPr name="TextBox 44" id="44"/>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Network 4th in every fold; LDA and naive Bayes too extreme (calibration slopes 0.749, 0.141).</a:t>
            </a:r>
          </a:p>
        </p:txBody>
      </p:sp>
      <p:sp>
        <p:nvSpPr>
          <p:cNvPr name="TextBox 45" id="45"/>
          <p:cNvSpPr txBox="true"/>
          <p:nvPr/>
        </p:nvSpPr>
        <p:spPr>
          <a:xfrm rot="0">
            <a:off x="6572250" y="2314575"/>
            <a:ext cx="5143500" cy="340995"/>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168BE8"/>
                </a:solidFill>
                <a:latin typeface="Source Sans 3 Bold"/>
                <a:ea typeface="Source Sans 3 Bold"/>
                <a:cs typeface="Source Sans 3 Bold"/>
                <a:sym typeface="Source Sans 3 Bold"/>
              </a:rPr>
              <a:t>HOW IT LEARNS</a:t>
            </a:r>
          </a:p>
        </p:txBody>
      </p:sp>
      <p:sp>
        <p:nvSpPr>
          <p:cNvPr name="TextBox 46" id="46"/>
          <p:cNvSpPr txBox="true"/>
          <p:nvPr/>
        </p:nvSpPr>
        <p:spPr>
          <a:xfrm rot="0">
            <a:off x="12001500" y="2314575"/>
            <a:ext cx="2190750" cy="340995"/>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25866D"/>
                </a:solidFill>
                <a:latin typeface="Source Sans 3 Bold"/>
                <a:ea typeface="Source Sans 3 Bold"/>
                <a:cs typeface="Source Sans 3 Bold"/>
                <a:sym typeface="Source Sans 3 Bold"/>
              </a:rPr>
              <a:t>CV AUC</a:t>
            </a:r>
          </a:p>
        </p:txBody>
      </p:sp>
      <p:sp>
        <p:nvSpPr>
          <p:cNvPr name="TextBox 47" id="47"/>
          <p:cNvSpPr txBox="true"/>
          <p:nvPr/>
        </p:nvSpPr>
        <p:spPr>
          <a:xfrm rot="0">
            <a:off x="1428750" y="3305175"/>
            <a:ext cx="952500" cy="523875"/>
          </a:xfrm>
          <a:prstGeom prst="rect">
            <a:avLst/>
          </a:prstGeom>
        </p:spPr>
        <p:txBody>
          <a:bodyPr anchor="t" rtlCol="false" tIns="0" lIns="0" bIns="0" rIns="0">
            <a:spAutoFit/>
          </a:bodyPr>
          <a:lstStyle/>
          <a:p>
            <a:pPr algn="l">
              <a:lnSpc>
                <a:spcPts val="4200"/>
              </a:lnSpc>
            </a:pPr>
            <a:r>
              <a:rPr lang="en-US" sz="3000" b="true">
                <a:solidFill>
                  <a:srgbClr val="168BE8"/>
                </a:solidFill>
                <a:latin typeface="Libre Franklin Bold"/>
                <a:ea typeface="Libre Franklin Bold"/>
                <a:cs typeface="Libre Franklin Bold"/>
                <a:sym typeface="Libre Franklin Bold"/>
              </a:rPr>
              <a:t>01</a:t>
            </a:r>
          </a:p>
        </p:txBody>
      </p:sp>
      <p:sp>
        <p:nvSpPr>
          <p:cNvPr name="TextBox 48" id="48"/>
          <p:cNvSpPr txBox="true"/>
          <p:nvPr/>
        </p:nvSpPr>
        <p:spPr>
          <a:xfrm rot="0">
            <a:off x="6572250" y="3390900"/>
            <a:ext cx="5143500" cy="356235"/>
          </a:xfrm>
          <a:prstGeom prst="rect">
            <a:avLst/>
          </a:prstGeom>
        </p:spPr>
        <p:txBody>
          <a:bodyPr anchor="t" rtlCol="false" tIns="0" lIns="0" bIns="0" rIns="0">
            <a:spAutoFit/>
          </a:bodyPr>
          <a:lstStyle/>
          <a:p>
            <a:pPr algn="l" marL="0" indent="0" lvl="0">
              <a:lnSpc>
                <a:spcPts val="2940"/>
              </a:lnSpc>
              <a:spcBef>
                <a:spcPct val="0"/>
              </a:spcBef>
            </a:pPr>
            <a:r>
              <a:rPr lang="en-US" sz="2100" strike="noStrike" u="none">
                <a:solidFill>
                  <a:srgbClr val="263746"/>
                </a:solidFill>
                <a:latin typeface="Source Sans 3"/>
                <a:ea typeface="Source Sans 3"/>
                <a:cs typeface="Source Sans 3"/>
                <a:sym typeface="Source Sans 3"/>
              </a:rPr>
              <a:t>layers of curved boundaries, stopped early</a:t>
            </a:r>
          </a:p>
        </p:txBody>
      </p:sp>
      <p:sp>
        <p:nvSpPr>
          <p:cNvPr name="TextBox 49" id="49"/>
          <p:cNvSpPr txBox="true"/>
          <p:nvPr/>
        </p:nvSpPr>
        <p:spPr>
          <a:xfrm rot="0">
            <a:off x="12001500" y="3352800"/>
            <a:ext cx="2190750" cy="405765"/>
          </a:xfrm>
          <a:prstGeom prst="rect">
            <a:avLst/>
          </a:prstGeom>
        </p:spPr>
        <p:txBody>
          <a:bodyPr anchor="t" rtlCol="false" tIns="0" lIns="0" bIns="0" rIns="0">
            <a:spAutoFit/>
          </a:bodyPr>
          <a:lstStyle/>
          <a:p>
            <a:pPr algn="l" marL="0" indent="0" lvl="0">
              <a:lnSpc>
                <a:spcPts val="3359"/>
              </a:lnSpc>
              <a:spcBef>
                <a:spcPct val="0"/>
              </a:spcBef>
            </a:pPr>
            <a:r>
              <a:rPr lang="en-US" b="true" sz="2400" strike="noStrike" u="none">
                <a:solidFill>
                  <a:srgbClr val="18395B"/>
                </a:solidFill>
                <a:latin typeface="Source Sans 3 Bold"/>
                <a:ea typeface="Source Sans 3 Bold"/>
                <a:cs typeface="Source Sans 3 Bold"/>
                <a:sym typeface="Source Sans 3 Bold"/>
              </a:rPr>
              <a:t>0.776</a:t>
            </a:r>
          </a:p>
        </p:txBody>
      </p:sp>
      <p:sp>
        <p:nvSpPr>
          <p:cNvPr name="TextBox 50" id="50"/>
          <p:cNvSpPr txBox="true"/>
          <p:nvPr/>
        </p:nvSpPr>
        <p:spPr>
          <a:xfrm rot="0">
            <a:off x="1428750" y="4924425"/>
            <a:ext cx="952500" cy="523875"/>
          </a:xfrm>
          <a:prstGeom prst="rect">
            <a:avLst/>
          </a:prstGeom>
        </p:spPr>
        <p:txBody>
          <a:bodyPr anchor="t" rtlCol="false" tIns="0" lIns="0" bIns="0" rIns="0">
            <a:spAutoFit/>
          </a:bodyPr>
          <a:lstStyle/>
          <a:p>
            <a:pPr algn="l">
              <a:lnSpc>
                <a:spcPts val="4200"/>
              </a:lnSpc>
            </a:pPr>
            <a:r>
              <a:rPr lang="en-US" sz="3000" b="true">
                <a:solidFill>
                  <a:srgbClr val="168BE8"/>
                </a:solidFill>
                <a:latin typeface="Libre Franklin Bold"/>
                <a:ea typeface="Libre Franklin Bold"/>
                <a:cs typeface="Libre Franklin Bold"/>
                <a:sym typeface="Libre Franklin Bold"/>
              </a:rPr>
              <a:t>02</a:t>
            </a:r>
          </a:p>
        </p:txBody>
      </p:sp>
      <p:sp>
        <p:nvSpPr>
          <p:cNvPr name="TextBox 51" id="51"/>
          <p:cNvSpPr txBox="true"/>
          <p:nvPr/>
        </p:nvSpPr>
        <p:spPr>
          <a:xfrm rot="0">
            <a:off x="2705100" y="5000625"/>
            <a:ext cx="3619500" cy="390525"/>
          </a:xfrm>
          <a:prstGeom prst="rect">
            <a:avLst/>
          </a:prstGeom>
        </p:spPr>
        <p:txBody>
          <a:bodyPr anchor="t" rtlCol="false" tIns="0" lIns="0" bIns="0" rIns="0">
            <a:spAutoFit/>
          </a:bodyPr>
          <a:lstStyle/>
          <a:p>
            <a:pPr algn="l" marL="0" indent="0" lvl="0">
              <a:lnSpc>
                <a:spcPts val="3149"/>
              </a:lnSpc>
              <a:spcBef>
                <a:spcPct val="0"/>
              </a:spcBef>
            </a:pPr>
            <a:r>
              <a:rPr lang="en-US" b="true" sz="2250" strike="noStrike" u="none">
                <a:solidFill>
                  <a:srgbClr val="18395B"/>
                </a:solidFill>
                <a:latin typeface="Libre Franklin Bold"/>
                <a:ea typeface="Libre Franklin Bold"/>
                <a:cs typeface="Libre Franklin Bold"/>
                <a:sym typeface="Libre Franklin Bold"/>
              </a:rPr>
              <a:t>SVM (RBF kernel)</a:t>
            </a:r>
          </a:p>
        </p:txBody>
      </p:sp>
      <p:sp>
        <p:nvSpPr>
          <p:cNvPr name="TextBox 52" id="52"/>
          <p:cNvSpPr txBox="true"/>
          <p:nvPr/>
        </p:nvSpPr>
        <p:spPr>
          <a:xfrm rot="0">
            <a:off x="12001500" y="4972050"/>
            <a:ext cx="2190750" cy="405765"/>
          </a:xfrm>
          <a:prstGeom prst="rect">
            <a:avLst/>
          </a:prstGeom>
        </p:spPr>
        <p:txBody>
          <a:bodyPr anchor="t" rtlCol="false" tIns="0" lIns="0" bIns="0" rIns="0">
            <a:spAutoFit/>
          </a:bodyPr>
          <a:lstStyle/>
          <a:p>
            <a:pPr algn="l" marL="0" indent="0" lvl="0">
              <a:lnSpc>
                <a:spcPts val="3359"/>
              </a:lnSpc>
              <a:spcBef>
                <a:spcPct val="0"/>
              </a:spcBef>
            </a:pPr>
            <a:r>
              <a:rPr lang="en-US" b="true" sz="2400" strike="noStrike" u="none">
                <a:solidFill>
                  <a:srgbClr val="18395B"/>
                </a:solidFill>
                <a:latin typeface="Source Sans 3 Bold"/>
                <a:ea typeface="Source Sans 3 Bold"/>
                <a:cs typeface="Source Sans 3 Bold"/>
                <a:sym typeface="Source Sans 3 Bold"/>
              </a:rPr>
              <a:t>0.764†</a:t>
            </a:r>
          </a:p>
        </p:txBody>
      </p:sp>
      <p:sp>
        <p:nvSpPr>
          <p:cNvPr name="TextBox 53" id="53"/>
          <p:cNvSpPr txBox="true"/>
          <p:nvPr/>
        </p:nvSpPr>
        <p:spPr>
          <a:xfrm rot="0">
            <a:off x="1428750" y="6543675"/>
            <a:ext cx="952500" cy="523875"/>
          </a:xfrm>
          <a:prstGeom prst="rect">
            <a:avLst/>
          </a:prstGeom>
        </p:spPr>
        <p:txBody>
          <a:bodyPr anchor="t" rtlCol="false" tIns="0" lIns="0" bIns="0" rIns="0">
            <a:spAutoFit/>
          </a:bodyPr>
          <a:lstStyle/>
          <a:p>
            <a:pPr algn="l">
              <a:lnSpc>
                <a:spcPts val="4200"/>
              </a:lnSpc>
            </a:pPr>
            <a:r>
              <a:rPr lang="en-US" sz="3000" b="true">
                <a:solidFill>
                  <a:srgbClr val="168BE8"/>
                </a:solidFill>
                <a:latin typeface="Libre Franklin Bold"/>
                <a:ea typeface="Libre Franklin Bold"/>
                <a:cs typeface="Libre Franklin Bold"/>
                <a:sym typeface="Libre Franklin Bold"/>
              </a:rPr>
              <a:t>03</a:t>
            </a:r>
          </a:p>
        </p:txBody>
      </p:sp>
      <p:sp>
        <p:nvSpPr>
          <p:cNvPr name="TextBox 54" id="54"/>
          <p:cNvSpPr txBox="true"/>
          <p:nvPr/>
        </p:nvSpPr>
        <p:spPr>
          <a:xfrm rot="0">
            <a:off x="2705100" y="6619875"/>
            <a:ext cx="3619500" cy="390525"/>
          </a:xfrm>
          <a:prstGeom prst="rect">
            <a:avLst/>
          </a:prstGeom>
        </p:spPr>
        <p:txBody>
          <a:bodyPr anchor="t" rtlCol="false" tIns="0" lIns="0" bIns="0" rIns="0">
            <a:spAutoFit/>
          </a:bodyPr>
          <a:lstStyle/>
          <a:p>
            <a:pPr algn="l" marL="0" indent="0" lvl="0">
              <a:lnSpc>
                <a:spcPts val="3149"/>
              </a:lnSpc>
              <a:spcBef>
                <a:spcPct val="0"/>
              </a:spcBef>
            </a:pPr>
            <a:r>
              <a:rPr lang="en-US" b="true" sz="2250" strike="noStrike" u="none">
                <a:solidFill>
                  <a:srgbClr val="18395B"/>
                </a:solidFill>
                <a:latin typeface="Libre Franklin Bold"/>
                <a:ea typeface="Libre Franklin Bold"/>
                <a:cs typeface="Libre Franklin Bold"/>
                <a:sym typeface="Libre Franklin Bold"/>
              </a:rPr>
              <a:t>LDA / naive Bayes</a:t>
            </a:r>
          </a:p>
        </p:txBody>
      </p:sp>
      <p:sp>
        <p:nvSpPr>
          <p:cNvPr name="TextBox 55" id="55"/>
          <p:cNvSpPr txBox="true"/>
          <p:nvPr/>
        </p:nvSpPr>
        <p:spPr>
          <a:xfrm rot="0">
            <a:off x="12001500" y="6591300"/>
            <a:ext cx="2190750" cy="405765"/>
          </a:xfrm>
          <a:prstGeom prst="rect">
            <a:avLst/>
          </a:prstGeom>
        </p:spPr>
        <p:txBody>
          <a:bodyPr anchor="t" rtlCol="false" tIns="0" lIns="0" bIns="0" rIns="0">
            <a:spAutoFit/>
          </a:bodyPr>
          <a:lstStyle/>
          <a:p>
            <a:pPr algn="l" marL="0" indent="0" lvl="0">
              <a:lnSpc>
                <a:spcPts val="3359"/>
              </a:lnSpc>
              <a:spcBef>
                <a:spcPct val="0"/>
              </a:spcBef>
            </a:pPr>
            <a:r>
              <a:rPr lang="en-US" b="true" sz="2400" strike="noStrike" u="none">
                <a:solidFill>
                  <a:srgbClr val="18395B"/>
                </a:solidFill>
                <a:latin typeface="Source Sans 3 Bold"/>
                <a:ea typeface="Source Sans 3 Bold"/>
                <a:cs typeface="Source Sans 3 Bold"/>
                <a:sym typeface="Source Sans 3 Bold"/>
              </a:rPr>
              <a:t>0.757 / 0.736</a:t>
            </a:r>
          </a:p>
        </p:txBody>
      </p:sp>
      <p:sp>
        <p:nvSpPr>
          <p:cNvPr name="TextBox 56" id="56"/>
          <p:cNvSpPr txBox="true"/>
          <p:nvPr/>
        </p:nvSpPr>
        <p:spPr>
          <a:xfrm rot="0">
            <a:off x="14382750" y="2314575"/>
            <a:ext cx="2914650" cy="683895"/>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25866D"/>
                </a:solidFill>
                <a:latin typeface="Source Sans 3 Bold"/>
                <a:ea typeface="Source Sans 3 Bold"/>
                <a:cs typeface="Source Sans 3 Bold"/>
                <a:sym typeface="Source Sans 3 Bold"/>
              </a:rPr>
              <a:t>CALIBRATION SLOPE</a:t>
            </a:r>
          </a:p>
          <a:p>
            <a:pPr algn="l" marL="0" indent="0" lvl="0">
              <a:lnSpc>
                <a:spcPts val="2729"/>
              </a:lnSpc>
              <a:spcBef>
                <a:spcPct val="0"/>
              </a:spcBef>
            </a:pPr>
            <a:r>
              <a:rPr lang="en-US" b="true" sz="1950" strike="noStrike" u="none">
                <a:solidFill>
                  <a:srgbClr val="25866D"/>
                </a:solidFill>
                <a:latin typeface="Source Sans 3 Bold"/>
                <a:ea typeface="Source Sans 3 Bold"/>
                <a:cs typeface="Source Sans 3 Bold"/>
                <a:sym typeface="Source Sans 3 Bold"/>
              </a:rPr>
              <a:t>(1 = honest)</a:t>
            </a:r>
          </a:p>
        </p:txBody>
      </p:sp>
      <p:sp>
        <p:nvSpPr>
          <p:cNvPr name="TextBox 57" id="57"/>
          <p:cNvSpPr txBox="true"/>
          <p:nvPr/>
        </p:nvSpPr>
        <p:spPr>
          <a:xfrm rot="0">
            <a:off x="2705100" y="3381375"/>
            <a:ext cx="3619500" cy="390525"/>
          </a:xfrm>
          <a:prstGeom prst="rect">
            <a:avLst/>
          </a:prstGeom>
        </p:spPr>
        <p:txBody>
          <a:bodyPr anchor="t" rtlCol="false" tIns="0" lIns="0" bIns="0" rIns="0">
            <a:spAutoFit/>
          </a:bodyPr>
          <a:lstStyle/>
          <a:p>
            <a:pPr algn="l" marL="0" indent="0" lvl="0">
              <a:lnSpc>
                <a:spcPts val="3149"/>
              </a:lnSpc>
              <a:spcBef>
                <a:spcPct val="0"/>
              </a:spcBef>
            </a:pPr>
            <a:r>
              <a:rPr lang="en-US" b="true" sz="2250" strike="noStrike" u="none">
                <a:solidFill>
                  <a:srgbClr val="18395B"/>
                </a:solidFill>
                <a:latin typeface="Libre Franklin Bold"/>
                <a:ea typeface="Libre Franklin Bold"/>
                <a:cs typeface="Libre Franklin Bold"/>
                <a:sym typeface="Libre Franklin Bold"/>
              </a:rPr>
              <a:t>Neural network (64–32)</a:t>
            </a:r>
          </a:p>
        </p:txBody>
      </p:sp>
      <p:sp>
        <p:nvSpPr>
          <p:cNvPr name="TextBox 58" id="58"/>
          <p:cNvSpPr txBox="true"/>
          <p:nvPr/>
        </p:nvSpPr>
        <p:spPr>
          <a:xfrm rot="0">
            <a:off x="6572250" y="5010150"/>
            <a:ext cx="5143500" cy="727710"/>
          </a:xfrm>
          <a:prstGeom prst="rect">
            <a:avLst/>
          </a:prstGeom>
        </p:spPr>
        <p:txBody>
          <a:bodyPr anchor="t" rtlCol="false" tIns="0" lIns="0" bIns="0" rIns="0">
            <a:spAutoFit/>
          </a:bodyPr>
          <a:lstStyle/>
          <a:p>
            <a:pPr algn="l" marL="0" indent="0" lvl="0">
              <a:lnSpc>
                <a:spcPts val="2940"/>
              </a:lnSpc>
              <a:spcBef>
                <a:spcPct val="0"/>
              </a:spcBef>
            </a:pPr>
            <a:r>
              <a:rPr lang="en-US" sz="2100" strike="noStrike" u="none">
                <a:solidFill>
                  <a:srgbClr val="263746"/>
                </a:solidFill>
                <a:latin typeface="Source Sans 3"/>
                <a:ea typeface="Source Sans 3"/>
                <a:cs typeface="Source Sans 3"/>
                <a:sym typeface="Source Sans 3"/>
              </a:rPr>
              <a:t>widest margin; Platt turns scores into probabilities</a:t>
            </a:r>
          </a:p>
        </p:txBody>
      </p:sp>
      <p:sp>
        <p:nvSpPr>
          <p:cNvPr name="TextBox 59" id="59"/>
          <p:cNvSpPr txBox="true"/>
          <p:nvPr/>
        </p:nvSpPr>
        <p:spPr>
          <a:xfrm rot="0">
            <a:off x="6572250" y="6629400"/>
            <a:ext cx="5143500" cy="727710"/>
          </a:xfrm>
          <a:prstGeom prst="rect">
            <a:avLst/>
          </a:prstGeom>
        </p:spPr>
        <p:txBody>
          <a:bodyPr anchor="t" rtlCol="false" tIns="0" lIns="0" bIns="0" rIns="0">
            <a:spAutoFit/>
          </a:bodyPr>
          <a:lstStyle/>
          <a:p>
            <a:pPr algn="l" marL="0" indent="0" lvl="0">
              <a:lnSpc>
                <a:spcPts val="2940"/>
              </a:lnSpc>
              <a:spcBef>
                <a:spcPct val="0"/>
              </a:spcBef>
            </a:pPr>
            <a:r>
              <a:rPr lang="en-US" sz="2100" strike="noStrike" u="none">
                <a:solidFill>
                  <a:srgbClr val="263746"/>
                </a:solidFill>
                <a:latin typeface="Source Sans 3"/>
                <a:ea typeface="Source Sans 3"/>
                <a:cs typeface="Source Sans 3"/>
                <a:sym typeface="Source Sans 3"/>
              </a:rPr>
              <a:t>bell-shaped amounts / independent bills: both false here</a:t>
            </a:r>
          </a:p>
        </p:txBody>
      </p:sp>
      <p:sp>
        <p:nvSpPr>
          <p:cNvPr name="TextBox 60" id="60"/>
          <p:cNvSpPr txBox="true"/>
          <p:nvPr/>
        </p:nvSpPr>
        <p:spPr>
          <a:xfrm rot="0">
            <a:off x="2705100" y="8172450"/>
            <a:ext cx="14592300" cy="281940"/>
          </a:xfrm>
          <a:prstGeom prst="rect">
            <a:avLst/>
          </a:prstGeom>
        </p:spPr>
        <p:txBody>
          <a:bodyPr anchor="t" rtlCol="false" tIns="0" lIns="0" bIns="0" rIns="0">
            <a:spAutoFit/>
          </a:bodyPr>
          <a:lstStyle/>
          <a:p>
            <a:pPr algn="l" marL="0" indent="0" lvl="0">
              <a:lnSpc>
                <a:spcPts val="2310"/>
              </a:lnSpc>
              <a:spcBef>
                <a:spcPct val="0"/>
              </a:spcBef>
            </a:pPr>
            <a:r>
              <a:rPr lang="en-US" sz="1650" strike="noStrike" u="none">
                <a:solidFill>
                  <a:srgbClr val="5E7182"/>
                </a:solidFill>
                <a:latin typeface="Source Sans 3"/>
                <a:ea typeface="Source Sans 3"/>
                <a:cs typeface="Source Sans 3"/>
                <a:sym typeface="Source Sans 3"/>
              </a:rPr>
              <a:t>† SVM: mean of shared-fold OOF AUCs (tuned on 6,000 rows)</a:t>
            </a:r>
          </a:p>
        </p:txBody>
      </p:sp>
      <p:sp>
        <p:nvSpPr>
          <p:cNvPr name="TextBox 61" id="61"/>
          <p:cNvSpPr txBox="true"/>
          <p:nvPr/>
        </p:nvSpPr>
        <p:spPr>
          <a:xfrm rot="0">
            <a:off x="2705100" y="2314575"/>
            <a:ext cx="3619500" cy="340995"/>
          </a:xfrm>
          <a:prstGeom prst="rect">
            <a:avLst/>
          </a:prstGeom>
        </p:spPr>
        <p:txBody>
          <a:bodyPr anchor="t" rtlCol="false" tIns="0" lIns="0" bIns="0" rIns="0">
            <a:spAutoFit/>
          </a:bodyPr>
          <a:lstStyle/>
          <a:p>
            <a:pPr algn="l" marL="0" indent="0" lvl="0">
              <a:lnSpc>
                <a:spcPts val="2729"/>
              </a:lnSpc>
              <a:spcBef>
                <a:spcPct val="0"/>
              </a:spcBef>
            </a:pPr>
            <a:r>
              <a:rPr lang="en-US" b="true" sz="1950" strike="noStrike" u="none">
                <a:solidFill>
                  <a:srgbClr val="168BE8"/>
                </a:solidFill>
                <a:latin typeface="Source Sans 3 Bold"/>
                <a:ea typeface="Source Sans 3 Bold"/>
                <a:cs typeface="Source Sans 3 Bold"/>
                <a:sym typeface="Source Sans 3 Bold"/>
              </a:rPr>
              <a:t>MODEL</a:t>
            </a:r>
          </a:p>
        </p:txBody>
      </p:sp>
      <p:sp>
        <p:nvSpPr>
          <p:cNvPr name="TextBox 62" id="62"/>
          <p:cNvSpPr txBox="true"/>
          <p:nvPr/>
        </p:nvSpPr>
        <p:spPr>
          <a:xfrm rot="0">
            <a:off x="14382750" y="6591300"/>
            <a:ext cx="2914650" cy="405765"/>
          </a:xfrm>
          <a:prstGeom prst="rect">
            <a:avLst/>
          </a:prstGeom>
        </p:spPr>
        <p:txBody>
          <a:bodyPr anchor="t" rtlCol="false" tIns="0" lIns="0" bIns="0" rIns="0">
            <a:spAutoFit/>
          </a:bodyPr>
          <a:lstStyle/>
          <a:p>
            <a:pPr algn="l" marL="0" indent="0" lvl="0">
              <a:lnSpc>
                <a:spcPts val="3359"/>
              </a:lnSpc>
              <a:spcBef>
                <a:spcPct val="0"/>
              </a:spcBef>
            </a:pPr>
            <a:r>
              <a:rPr lang="en-US" b="true" sz="2400" strike="noStrike" u="none">
                <a:solidFill>
                  <a:srgbClr val="18395B"/>
                </a:solidFill>
                <a:latin typeface="Source Sans 3 Bold"/>
                <a:ea typeface="Source Sans 3 Bold"/>
                <a:cs typeface="Source Sans 3 Bold"/>
                <a:sym typeface="Source Sans 3 Bold"/>
              </a:rPr>
              <a:t>0.749 / 0.141</a:t>
            </a:r>
          </a:p>
        </p:txBody>
      </p:sp>
      <p:sp>
        <p:nvSpPr>
          <p:cNvPr name="TextBox 63" id="63"/>
          <p:cNvSpPr txBox="true"/>
          <p:nvPr/>
        </p:nvSpPr>
        <p:spPr>
          <a:xfrm rot="0">
            <a:off x="14382750" y="3352800"/>
            <a:ext cx="2914650" cy="405765"/>
          </a:xfrm>
          <a:prstGeom prst="rect">
            <a:avLst/>
          </a:prstGeom>
        </p:spPr>
        <p:txBody>
          <a:bodyPr anchor="t" rtlCol="false" tIns="0" lIns="0" bIns="0" rIns="0">
            <a:spAutoFit/>
          </a:bodyPr>
          <a:lstStyle/>
          <a:p>
            <a:pPr algn="l" marL="0" indent="0" lvl="0">
              <a:lnSpc>
                <a:spcPts val="3359"/>
              </a:lnSpc>
              <a:spcBef>
                <a:spcPct val="0"/>
              </a:spcBef>
            </a:pPr>
            <a:r>
              <a:rPr lang="en-US" b="true" sz="2400" strike="noStrike" u="none">
                <a:solidFill>
                  <a:srgbClr val="18395B"/>
                </a:solidFill>
                <a:latin typeface="Source Sans 3 Bold"/>
                <a:ea typeface="Source Sans 3 Bold"/>
                <a:cs typeface="Source Sans 3 Bold"/>
                <a:sym typeface="Source Sans 3 Bold"/>
              </a:rPr>
              <a:t>0.936</a:t>
            </a:r>
          </a:p>
        </p:txBody>
      </p:sp>
      <p:sp>
        <p:nvSpPr>
          <p:cNvPr name="TextBox 64" id="64"/>
          <p:cNvSpPr txBox="true"/>
          <p:nvPr/>
        </p:nvSpPr>
        <p:spPr>
          <a:xfrm rot="0">
            <a:off x="14382750" y="4972050"/>
            <a:ext cx="2914650" cy="405765"/>
          </a:xfrm>
          <a:prstGeom prst="rect">
            <a:avLst/>
          </a:prstGeom>
        </p:spPr>
        <p:txBody>
          <a:bodyPr anchor="t" rtlCol="false" tIns="0" lIns="0" bIns="0" rIns="0">
            <a:spAutoFit/>
          </a:bodyPr>
          <a:lstStyle/>
          <a:p>
            <a:pPr algn="l" marL="0" indent="0" lvl="0">
              <a:lnSpc>
                <a:spcPts val="3359"/>
              </a:lnSpc>
              <a:spcBef>
                <a:spcPct val="0"/>
              </a:spcBef>
            </a:pPr>
            <a:r>
              <a:rPr lang="en-US" b="true" sz="2400" strike="noStrike" u="none">
                <a:solidFill>
                  <a:srgbClr val="18395B"/>
                </a:solidFill>
                <a:latin typeface="Source Sans 3 Bold"/>
                <a:ea typeface="Source Sans 3 Bold"/>
                <a:cs typeface="Source Sans 3 Bold"/>
                <a:sym typeface="Source Sans 3 Bold"/>
              </a:rPr>
              <a:t>0.997</a:t>
            </a:r>
          </a:p>
        </p:txBody>
      </p:sp>
      <p:sp>
        <p:nvSpPr>
          <p:cNvPr name="TextBox 65" id="65"/>
          <p:cNvSpPr txBox="true"/>
          <p:nvPr/>
        </p:nvSpPr>
        <p:spPr>
          <a:xfrm rot="0">
            <a:off x="990600" y="9067800"/>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CV / OOF; results/fold_stability.csv (calibration slopes, post-freeze), mlp.json, svm_rbf.json, svm_selection_statistics.json, lda.json, naive_bayes.json</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4" y="9686925"/>
            <a:ext cx="18287796" cy="600075"/>
            <a:chOff x="0" y="0"/>
            <a:chExt cx="24383727" cy="800100"/>
          </a:xfrm>
        </p:grpSpPr>
        <p:grpSp>
          <p:nvGrpSpPr>
            <p:cNvPr name="Group 6" id="6"/>
            <p:cNvGrpSpPr/>
            <p:nvPr/>
          </p:nvGrpSpPr>
          <p:grpSpPr>
            <a:xfrm rot="0">
              <a:off x="0" y="0"/>
              <a:ext cx="4368967" cy="800100"/>
              <a:chOff x="0" y="0"/>
              <a:chExt cx="5825289" cy="1066800"/>
            </a:xfrm>
          </p:grpSpPr>
          <p:sp>
            <p:nvSpPr>
              <p:cNvPr name="Freeform 7" id="7"/>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7" y="0"/>
              <a:ext cx="4368967" cy="800100"/>
              <a:chOff x="0" y="0"/>
              <a:chExt cx="5825289" cy="1066800"/>
            </a:xfrm>
          </p:grpSpPr>
          <p:sp>
            <p:nvSpPr>
              <p:cNvPr name="Freeform 10" id="10"/>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7" y="0"/>
              <a:ext cx="4368967" cy="800100"/>
              <a:chOff x="0" y="0"/>
              <a:chExt cx="5825289" cy="1066800"/>
            </a:xfrm>
          </p:grpSpPr>
          <p:sp>
            <p:nvSpPr>
              <p:cNvPr name="Freeform 13" id="13"/>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7" y="0"/>
              <a:ext cx="4368967" cy="800100"/>
              <a:chOff x="0" y="0"/>
              <a:chExt cx="5825289" cy="1066800"/>
            </a:xfrm>
          </p:grpSpPr>
          <p:sp>
            <p:nvSpPr>
              <p:cNvPr name="Freeform 16" id="16"/>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68BE8"/>
              </a:solidFill>
              <a:ln cap="sq">
                <a:noFill/>
                <a:prstDash val="solid"/>
                <a:miter/>
              </a:ln>
            </p:spPr>
          </p:sp>
          <p:sp>
            <p:nvSpPr>
              <p:cNvPr name="TextBox 17" id="17"/>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7" y="0"/>
              <a:ext cx="4368967" cy="800100"/>
              <a:chOff x="0" y="0"/>
              <a:chExt cx="5825289" cy="1066800"/>
            </a:xfrm>
          </p:grpSpPr>
          <p:sp>
            <p:nvSpPr>
              <p:cNvPr name="Freeform 19" id="19"/>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7"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9479"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1368"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325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3514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897036"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39833" y="142875"/>
              <a:ext cx="1361447"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16</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Calibration of weighted models before (dotted) and after Platt scaling (solid), training out-of-fold"/>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Class imbalance: weight the decision, not the data</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Weights move the intercept, not the ranking; weighted logit + Platt costs 0.4% more than plain.</a:t>
            </a:r>
          </a:p>
        </p:txBody>
      </p:sp>
      <p:sp>
        <p:nvSpPr>
          <p:cNvPr name="TextBox 34" id="34"/>
          <p:cNvSpPr txBox="true"/>
          <p:nvPr/>
        </p:nvSpPr>
        <p:spPr>
          <a:xfrm rot="0">
            <a:off x="990600" y="9067800"/>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OOF / CV; results/recalibration.csv, imbalance_comparison.csv, nested_cv_summary_repro.json (cross-fitted 5:1 cost +0.4%); Platt (1999); Chawla et al. (2002)</a:t>
            </a:r>
          </a:p>
        </p:txBody>
      </p:sp>
      <p:sp>
        <p:nvSpPr>
          <p:cNvPr name="TextBox 35" id="35"/>
          <p:cNvSpPr txBox="true"/>
          <p:nvPr/>
        </p:nvSpPr>
        <p:spPr>
          <a:xfrm rot="0">
            <a:off x="2952750" y="8372475"/>
            <a:ext cx="12382500" cy="283845"/>
          </a:xfrm>
          <a:prstGeom prst="rect">
            <a:avLst/>
          </a:prstGeom>
        </p:spPr>
        <p:txBody>
          <a:bodyPr anchor="t" rtlCol="false" tIns="0" lIns="0" bIns="0" rIns="0">
            <a:spAutoFit/>
          </a:bodyPr>
          <a:lstStyle/>
          <a:p>
            <a:pPr algn="ctr" marL="0" indent="0" lvl="0">
              <a:lnSpc>
                <a:spcPts val="2250"/>
              </a:lnSpc>
              <a:spcBef>
                <a:spcPct val="0"/>
              </a:spcBef>
            </a:pPr>
            <a:r>
              <a:rPr lang="en-US" sz="1800" strike="noStrike" u="none">
                <a:solidFill>
                  <a:srgbClr val="263746"/>
                </a:solidFill>
                <a:latin typeface="Source Sans 3"/>
                <a:ea typeface="Source Sans 3"/>
                <a:cs typeface="Source Sans 3"/>
                <a:sym typeface="Source Sans 3"/>
              </a:rPr>
              <a:t>Weighted models before (dotted) and after Platt scaling (solid), training out-of-fold</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4" y="9686925"/>
            <a:ext cx="18287796" cy="600075"/>
            <a:chOff x="0" y="0"/>
            <a:chExt cx="24383727" cy="800100"/>
          </a:xfrm>
        </p:grpSpPr>
        <p:grpSp>
          <p:nvGrpSpPr>
            <p:cNvPr name="Group 6" id="6"/>
            <p:cNvGrpSpPr/>
            <p:nvPr/>
          </p:nvGrpSpPr>
          <p:grpSpPr>
            <a:xfrm rot="0">
              <a:off x="0" y="0"/>
              <a:ext cx="4368967" cy="800100"/>
              <a:chOff x="0" y="0"/>
              <a:chExt cx="5825289" cy="1066800"/>
            </a:xfrm>
          </p:grpSpPr>
          <p:sp>
            <p:nvSpPr>
              <p:cNvPr name="Freeform 7" id="7"/>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7" y="0"/>
              <a:ext cx="4368967" cy="800100"/>
              <a:chOff x="0" y="0"/>
              <a:chExt cx="5825289" cy="1066800"/>
            </a:xfrm>
          </p:grpSpPr>
          <p:sp>
            <p:nvSpPr>
              <p:cNvPr name="Freeform 10" id="10"/>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7" y="0"/>
              <a:ext cx="4368967" cy="800100"/>
              <a:chOff x="0" y="0"/>
              <a:chExt cx="5825289" cy="1066800"/>
            </a:xfrm>
          </p:grpSpPr>
          <p:sp>
            <p:nvSpPr>
              <p:cNvPr name="Freeform 13" id="13"/>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7" y="0"/>
              <a:ext cx="4368967" cy="800100"/>
              <a:chOff x="0" y="0"/>
              <a:chExt cx="5825289" cy="1066800"/>
            </a:xfrm>
          </p:grpSpPr>
          <p:sp>
            <p:nvSpPr>
              <p:cNvPr name="Freeform 16" id="16"/>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68BE8"/>
              </a:solidFill>
              <a:ln cap="sq">
                <a:noFill/>
                <a:prstDash val="solid"/>
                <a:miter/>
              </a:ln>
            </p:spPr>
          </p:sp>
          <p:sp>
            <p:nvSpPr>
              <p:cNvPr name="TextBox 17" id="17"/>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7" y="0"/>
              <a:ext cx="4368967" cy="800100"/>
              <a:chOff x="0" y="0"/>
              <a:chExt cx="5825289" cy="1066800"/>
            </a:xfrm>
          </p:grpSpPr>
          <p:sp>
            <p:nvSpPr>
              <p:cNvPr name="Freeform 19" id="19"/>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DBE8F2"/>
              </a:solidFill>
              <a:ln cap="sq">
                <a:noFill/>
                <a:prstDash val="solid"/>
                <a:miter/>
              </a:ln>
            </p:spPr>
          </p:sp>
          <p:sp>
            <p:nvSpPr>
              <p:cNvPr name="TextBox 20" id="20"/>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7"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9479"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1368"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325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3514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897036"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39833" y="142875"/>
              <a:ext cx="1361447"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17</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31" id="31"/>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Leakage control: SMOTE before the split fakes 0.914 AUC</a:t>
            </a:r>
          </a:p>
        </p:txBody>
      </p:sp>
      <p:sp>
        <p:nvSpPr>
          <p:cNvPr name="TextBox 32" id="32"/>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Honest forest 0.774; the same forest “tested” on 73% synthetic defaulters scores 0.914.</a:t>
            </a:r>
          </a:p>
        </p:txBody>
      </p:sp>
      <p:sp>
        <p:nvSpPr>
          <p:cNvPr name="TextBox 33" id="33"/>
          <p:cNvSpPr txBox="true"/>
          <p:nvPr/>
        </p:nvSpPr>
        <p:spPr>
          <a:xfrm rot="0">
            <a:off x="990600" y="8963025"/>
            <a:ext cx="16306800" cy="470535"/>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Test AUCs, reporting only (honest = frozen SMOTE-in-folds forest, CV also 0.774; leaky = “test” split of SMOTE’d data, n = 14,001); results/imbalance_leakage_demo.csv; negative control imb_leaky_smote_demo in frozen_manifest.json</a:t>
            </a:r>
          </a:p>
        </p:txBody>
      </p:sp>
      <p:sp>
        <p:nvSpPr>
          <p:cNvPr name="TextBox 34" id="34"/>
          <p:cNvSpPr txBox="true"/>
          <p:nvPr/>
        </p:nvSpPr>
        <p:spPr>
          <a:xfrm rot="0">
            <a:off x="2952750" y="8372475"/>
            <a:ext cx="12382500" cy="283845"/>
          </a:xfrm>
          <a:prstGeom prst="rect">
            <a:avLst/>
          </a:prstGeom>
        </p:spPr>
        <p:txBody>
          <a:bodyPr anchor="t" rtlCol="false" tIns="0" lIns="0" bIns="0" rIns="0">
            <a:spAutoFit/>
          </a:bodyPr>
          <a:lstStyle/>
          <a:p>
            <a:pPr algn="ctr" marL="0" indent="0" lvl="0">
              <a:lnSpc>
                <a:spcPts val="2250"/>
              </a:lnSpc>
              <a:spcBef>
                <a:spcPct val="0"/>
              </a:spcBef>
            </a:pPr>
            <a:r>
              <a:rPr lang="en-US" sz="1800" strike="noStrike" u="none">
                <a:solidFill>
                  <a:srgbClr val="263746"/>
                </a:solidFill>
                <a:latin typeface="Source Sans 3"/>
                <a:ea typeface="Source Sans 3"/>
                <a:cs typeface="Source Sans 3"/>
                <a:sym typeface="Source Sans 3"/>
              </a:rPr>
              <a:t>Same learners, same data: only the order of SMOTE and split differs</a:t>
            </a:r>
          </a:p>
        </p:txBody>
      </p:sp>
      <p:sp>
        <p:nvSpPr>
          <p:cNvPr name="Freeform 35" id="35" descr="Honest versus leaky test AUC: same learners and data, SMOTE inside the folds versus SMOTE before the split"/>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18</a:t>
              </a:r>
            </a:p>
          </p:txBody>
        </p:sp>
      </p:grpSp>
      <p:sp>
        <p:nvSpPr>
          <p:cNvPr name="TextBox 30" id="30"/>
          <p:cNvSpPr txBox="true"/>
          <p:nvPr/>
        </p:nvSpPr>
        <p:spPr>
          <a:xfrm rot="0">
            <a:off x="2952750" y="8372475"/>
            <a:ext cx="12382500" cy="283845"/>
          </a:xfrm>
          <a:prstGeom prst="rect">
            <a:avLst/>
          </a:prstGeom>
        </p:spPr>
        <p:txBody>
          <a:bodyPr anchor="t" rtlCol="false" tIns="0" lIns="0" bIns="0" rIns="0">
            <a:spAutoFit/>
          </a:bodyPr>
          <a:lstStyle/>
          <a:p>
            <a:pPr algn="ctr" marL="0" indent="0" lvl="0">
              <a:lnSpc>
                <a:spcPts val="2250"/>
              </a:lnSpc>
              <a:spcBef>
                <a:spcPct val="0"/>
              </a:spcBef>
            </a:pPr>
            <a:r>
              <a:rPr lang="en-US" sz="1800" strike="noStrike" u="none">
                <a:solidFill>
                  <a:srgbClr val="263746"/>
                </a:solidFill>
                <a:latin typeface="Source Sans 3"/>
                <a:ea typeface="Source Sans 3"/>
                <a:cs typeface="Source Sans 3"/>
                <a:sym typeface="Source Sans 3"/>
              </a:rPr>
              <a:t>Test cost at 5:1 against the cut-off; diamonds = cut-offs chosen on training OOF</a:t>
            </a:r>
          </a:p>
        </p:txBody>
      </p:sp>
      <p:sp>
        <p:nvSpPr>
          <p:cNvPr name="Freeform 31" id="31"/>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32" id="32"/>
          <p:cNvSpPr txBox="true"/>
          <p:nvPr/>
        </p:nvSpPr>
        <p:spPr>
          <a:xfrm rot="0">
            <a:off x="990600" y="9067800"/>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Cut-offs chosen on training OOF; test n = 8,990, reporting only; results/threshold_vs_model_saving.csv (paired bootstrap B = 1,000); 5:1 = Statlog German Credit cost matrix (Hofmann 1994), doi:10.24432/C5NC77</a:t>
            </a:r>
          </a:p>
        </p:txBody>
      </p:sp>
      <p:sp>
        <p:nvSpPr>
          <p:cNvPr name="TextBox 33" id="33"/>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The cut-off matters more than the model</a:t>
            </a:r>
          </a:p>
        </p:txBody>
      </p:sp>
      <p:sp>
        <p:nvSpPr>
          <p:cNvPr name="TextBox 34" id="34"/>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At 5:1, moving the logit’s cut-off saves 1,937; switching to XGBoost saves 145 more [−18, 299].</a:t>
            </a:r>
          </a:p>
        </p:txBody>
      </p:sp>
      <p:sp>
        <p:nvSpPr>
          <p:cNvPr name="Freeform 35" id="35" descr="Test cost at the borrowed 5:1 scenario against the cut-off for the logit and XGBoost; diamonds mark cut-offs chosen on training OOF"/>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19</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Training OOF: cost-minimising cut-off and cheapest model at each cost ratio from 1:1 to 20:1"/>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The bank’s own cost ratio should set the cut-off</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Cut-off falls from 0.49 at 1:1 to 0.03 at 20:1; the cheapest model keeps changing.</a:t>
            </a:r>
          </a:p>
        </p:txBody>
      </p:sp>
      <p:sp>
        <p:nvSpPr>
          <p:cNvPr name="TextBox 34" id="34"/>
          <p:cNvSpPr txBox="true"/>
          <p:nvPr/>
        </p:nvSpPr>
        <p:spPr>
          <a:xfrm rot="0">
            <a:off x="990600" y="9067800"/>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OOF, post-freeze, selects nothing; results/preferred_model_by_ratio_oof.csv, preferred_model_by_ratio_oof_long.csv, cost_anchors.json</a:t>
            </a:r>
          </a:p>
        </p:txBody>
      </p:sp>
      <p:sp>
        <p:nvSpPr>
          <p:cNvPr name="TextBox 35" id="35"/>
          <p:cNvSpPr txBox="true"/>
          <p:nvPr/>
        </p:nvSpPr>
        <p:spPr>
          <a:xfrm rot="0">
            <a:off x="2952750" y="8372475"/>
            <a:ext cx="12382500" cy="283845"/>
          </a:xfrm>
          <a:prstGeom prst="rect">
            <a:avLst/>
          </a:prstGeom>
        </p:spPr>
        <p:txBody>
          <a:bodyPr anchor="t" rtlCol="false" tIns="0" lIns="0" bIns="0" rIns="0">
            <a:spAutoFit/>
          </a:bodyPr>
          <a:lstStyle/>
          <a:p>
            <a:pPr algn="ctr" marL="0" indent="0" lvl="0">
              <a:lnSpc>
                <a:spcPts val="2250"/>
              </a:lnSpc>
              <a:spcBef>
                <a:spcPct val="0"/>
              </a:spcBef>
            </a:pPr>
            <a:r>
              <a:rPr lang="en-US" sz="1800" strike="noStrike" u="none">
                <a:solidFill>
                  <a:srgbClr val="263746"/>
                </a:solidFill>
                <a:latin typeface="Source Sans 3"/>
                <a:ea typeface="Source Sans 3"/>
                <a:cs typeface="Source Sans 3"/>
                <a:sym typeface="Source Sans 3"/>
              </a:rPr>
              <a:t>Training OOF: cost-minimising cut-off and cheapest model at each cost ratio</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67" y="9686925"/>
            <a:ext cx="18287933" cy="600075"/>
            <a:chOff x="0" y="0"/>
            <a:chExt cx="24383911" cy="800100"/>
          </a:xfrm>
        </p:grpSpPr>
        <p:grpSp>
          <p:nvGrpSpPr>
            <p:cNvPr name="Group 6" id="6"/>
            <p:cNvGrpSpPr/>
            <p:nvPr/>
          </p:nvGrpSpPr>
          <p:grpSpPr>
            <a:xfrm rot="0">
              <a:off x="0" y="0"/>
              <a:ext cx="4368800" cy="800100"/>
              <a:chOff x="0" y="0"/>
              <a:chExt cx="5825067" cy="1066800"/>
            </a:xfrm>
          </p:grpSpPr>
          <p:sp>
            <p:nvSpPr>
              <p:cNvPr name="Freeform 7" id="7"/>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311" y="0"/>
              <a:ext cx="4368800" cy="800100"/>
              <a:chOff x="0" y="0"/>
              <a:chExt cx="5825067" cy="1066800"/>
            </a:xfrm>
          </p:grpSpPr>
          <p:sp>
            <p:nvSpPr>
              <p:cNvPr name="Freeform 10" id="10"/>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711" y="0"/>
              <a:ext cx="4368800" cy="800100"/>
              <a:chOff x="0" y="0"/>
              <a:chExt cx="5825067" cy="1066800"/>
            </a:xfrm>
          </p:grpSpPr>
          <p:sp>
            <p:nvSpPr>
              <p:cNvPr name="Freeform 13" id="13"/>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1111" y="0"/>
              <a:ext cx="4368800" cy="800100"/>
              <a:chOff x="0" y="0"/>
              <a:chExt cx="5825067" cy="1066800"/>
            </a:xfrm>
          </p:grpSpPr>
          <p:sp>
            <p:nvSpPr>
              <p:cNvPr name="Freeform 16" id="16"/>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8395B"/>
              </a:solidFill>
              <a:ln cap="sq">
                <a:noFill/>
                <a:prstDash val="solid"/>
                <a:miter/>
              </a:ln>
            </p:spPr>
          </p:sp>
          <p:sp>
            <p:nvSpPr>
              <p:cNvPr name="TextBox 17" id="17"/>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511" y="0"/>
              <a:ext cx="4368800" cy="800100"/>
              <a:chOff x="0" y="0"/>
              <a:chExt cx="5825067" cy="1066800"/>
            </a:xfrm>
          </p:grpSpPr>
          <p:sp>
            <p:nvSpPr>
              <p:cNvPr name="Freeform 19" id="19"/>
              <p:cNvSpPr/>
              <p:nvPr/>
            </p:nvSpPr>
            <p:spPr>
              <a:xfrm flipH="false" flipV="false" rot="0">
                <a:off x="0" y="0"/>
                <a:ext cx="5825067" cy="1066800"/>
              </a:xfrm>
              <a:custGeom>
                <a:avLst/>
                <a:gdLst/>
                <a:ahLst/>
                <a:cxnLst/>
                <a:rect r="r" b="b" t="t" l="l"/>
                <a:pathLst>
                  <a:path h="1066800" w="5825067">
                    <a:moveTo>
                      <a:pt x="0" y="0"/>
                    </a:moveTo>
                    <a:lnTo>
                      <a:pt x="5825067" y="0"/>
                    </a:lnTo>
                    <a:lnTo>
                      <a:pt x="5825067" y="1066800"/>
                    </a:lnTo>
                    <a:lnTo>
                      <a:pt x="0" y="1066800"/>
                    </a:lnTo>
                    <a:close/>
                  </a:path>
                </a:pathLst>
              </a:custGeom>
              <a:solidFill>
                <a:srgbClr val="168BE8"/>
              </a:solidFill>
              <a:ln cap="sq">
                <a:noFill/>
                <a:prstDash val="solid"/>
                <a:miter/>
              </a:ln>
            </p:spPr>
          </p:sp>
          <p:sp>
            <p:nvSpPr>
              <p:cNvPr name="TextBox 20" id="20"/>
              <p:cNvSpPr txBox="true"/>
              <p:nvPr/>
            </p:nvSpPr>
            <p:spPr>
              <a:xfrm>
                <a:off x="0" y="-47625"/>
                <a:ext cx="5825067"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911"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1011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51769"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90023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52970"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903571" y="209550"/>
              <a:ext cx="4191459"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17387" y="142875"/>
              <a:ext cx="1385043"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20</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Freeform 31" id="31" descr="5:1 cost per 1,000 training clients for no-parameter rules versus cross-fitted logit and XGBoost"/>
          <p:cNvSpPr/>
          <p:nvPr/>
        </p:nvSpPr>
        <p:spPr>
          <a:xfrm flipH="false" flipV="false" rot="0">
            <a:off x="2952750" y="2047875"/>
            <a:ext cx="12382500" cy="6191250"/>
          </a:xfrm>
          <a:custGeom>
            <a:avLst/>
            <a:gdLst/>
            <a:ahLst/>
            <a:cxnLst/>
            <a:rect r="r" b="b" t="t" l="l"/>
            <a:pathLst>
              <a:path h="6191250" w="12382500">
                <a:moveTo>
                  <a:pt x="0" y="0"/>
                </a:moveTo>
                <a:lnTo>
                  <a:pt x="12382500" y="0"/>
                </a:lnTo>
                <a:lnTo>
                  <a:pt x="12382500" y="6191250"/>
                </a:lnTo>
                <a:lnTo>
                  <a:pt x="0" y="6191250"/>
                </a:lnTo>
                <a:lnTo>
                  <a:pt x="0" y="0"/>
                </a:lnTo>
                <a:close/>
              </a:path>
            </a:pathLst>
          </a:custGeom>
          <a:blipFill>
            <a:blip r:embed="rId4"/>
            <a:stretch>
              <a:fillRect l="0" t="0" r="0" b="0"/>
            </a:stretch>
          </a:blipFill>
        </p:spPr>
      </p:sp>
      <p:sp>
        <p:nvSpPr>
          <p:cNvPr name="TextBox 32" id="32"/>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A one-line rule gets most of the way</a:t>
            </a:r>
          </a:p>
        </p:txBody>
      </p:sp>
      <p:sp>
        <p:nvSpPr>
          <p:cNvPr name="TextBox 33" id="33"/>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XGBoost costs 7.7% less than “flag any delay” at 5:1; the logit, almost nothing less.</a:t>
            </a:r>
          </a:p>
        </p:txBody>
      </p:sp>
      <p:sp>
        <p:nvSpPr>
          <p:cNvPr name="TextBox 34" id="34"/>
          <p:cNvSpPr txBox="true"/>
          <p:nvPr/>
        </p:nvSpPr>
        <p:spPr>
          <a:xfrm rot="0">
            <a:off x="990600" y="9067800"/>
            <a:ext cx="16306800" cy="232410"/>
          </a:xfrm>
          <a:prstGeom prst="rect">
            <a:avLst/>
          </a:prstGeom>
        </p:spPr>
        <p:txBody>
          <a:bodyPr anchor="t" rtlCol="false" tIns="0" lIns="0" bIns="0" rIns="0">
            <a:spAutoFit/>
          </a:bodyPr>
          <a:lstStyle/>
          <a:p>
            <a:pPr algn="l" marL="0" indent="0" lvl="0">
              <a:lnSpc>
                <a:spcPts val="1889"/>
              </a:lnSpc>
              <a:spcBef>
                <a:spcPct val="0"/>
              </a:spcBef>
            </a:pPr>
            <a:r>
              <a:rPr lang="en-US" sz="1350" strike="noStrike" u="none">
                <a:solidFill>
                  <a:srgbClr val="5E7182"/>
                </a:solidFill>
                <a:latin typeface="Source Sans 3"/>
                <a:ea typeface="Source Sans 3"/>
                <a:cs typeface="Source Sans 3"/>
                <a:sym typeface="Source Sans 3"/>
              </a:rPr>
              <a:t>Training rows, post-freeze, never test-scored; results/simple_rule_benchmark.csv, topk_capture_oof.csv</a:t>
            </a:r>
          </a:p>
        </p:txBody>
      </p:sp>
      <p:sp>
        <p:nvSpPr>
          <p:cNvPr name="TextBox 35" id="35"/>
          <p:cNvSpPr txBox="true"/>
          <p:nvPr/>
        </p:nvSpPr>
        <p:spPr>
          <a:xfrm rot="0">
            <a:off x="2952750" y="8372475"/>
            <a:ext cx="12382500" cy="283845"/>
          </a:xfrm>
          <a:prstGeom prst="rect">
            <a:avLst/>
          </a:prstGeom>
        </p:spPr>
        <p:txBody>
          <a:bodyPr anchor="t" rtlCol="false" tIns="0" lIns="0" bIns="0" rIns="0">
            <a:spAutoFit/>
          </a:bodyPr>
          <a:lstStyle/>
          <a:p>
            <a:pPr algn="ctr" marL="0" indent="0" lvl="0">
              <a:lnSpc>
                <a:spcPts val="2250"/>
              </a:lnSpc>
              <a:spcBef>
                <a:spcPct val="0"/>
              </a:spcBef>
            </a:pPr>
            <a:r>
              <a:rPr lang="en-US" sz="1800" strike="noStrike" u="none">
                <a:solidFill>
                  <a:srgbClr val="263746"/>
                </a:solidFill>
                <a:latin typeface="Source Sans 3"/>
                <a:ea typeface="Source Sans 3"/>
                <a:cs typeface="Source Sans 3"/>
                <a:sym typeface="Source Sans 3"/>
              </a:rPr>
              <a:t>5:1 cost per 1,000 training clients: no-parameter rules vs cross-fitted models</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4" y="9686925"/>
            <a:ext cx="18287796" cy="600075"/>
            <a:chOff x="0" y="0"/>
            <a:chExt cx="24383728" cy="800100"/>
          </a:xfrm>
        </p:grpSpPr>
        <p:grpSp>
          <p:nvGrpSpPr>
            <p:cNvPr name="Group 6" id="6"/>
            <p:cNvGrpSpPr/>
            <p:nvPr/>
          </p:nvGrpSpPr>
          <p:grpSpPr>
            <a:xfrm rot="0">
              <a:off x="0" y="0"/>
              <a:ext cx="4369040" cy="800100"/>
              <a:chOff x="0" y="0"/>
              <a:chExt cx="5825386" cy="1066800"/>
            </a:xfrm>
          </p:grpSpPr>
          <p:sp>
            <p:nvSpPr>
              <p:cNvPr name="Freeform 7" id="7"/>
              <p:cNvSpPr/>
              <p:nvPr/>
            </p:nvSpPr>
            <p:spPr>
              <a:xfrm flipH="false" flipV="false" rot="0">
                <a:off x="0" y="0"/>
                <a:ext cx="5825386" cy="1066800"/>
              </a:xfrm>
              <a:custGeom>
                <a:avLst/>
                <a:gdLst/>
                <a:ahLst/>
                <a:cxnLst/>
                <a:rect r="r" b="b" t="t" l="l"/>
                <a:pathLst>
                  <a:path h="1066800" w="5825386">
                    <a:moveTo>
                      <a:pt x="0" y="0"/>
                    </a:moveTo>
                    <a:lnTo>
                      <a:pt x="5825386" y="0"/>
                    </a:lnTo>
                    <a:lnTo>
                      <a:pt x="5825386"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386"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8" y="0"/>
              <a:ext cx="4369040" cy="800100"/>
              <a:chOff x="0" y="0"/>
              <a:chExt cx="5825386" cy="1066800"/>
            </a:xfrm>
          </p:grpSpPr>
          <p:sp>
            <p:nvSpPr>
              <p:cNvPr name="Freeform 10" id="10"/>
              <p:cNvSpPr/>
              <p:nvPr/>
            </p:nvSpPr>
            <p:spPr>
              <a:xfrm flipH="false" flipV="false" rot="0">
                <a:off x="0" y="0"/>
                <a:ext cx="5825386" cy="1066800"/>
              </a:xfrm>
              <a:custGeom>
                <a:avLst/>
                <a:gdLst/>
                <a:ahLst/>
                <a:cxnLst/>
                <a:rect r="r" b="b" t="t" l="l"/>
                <a:pathLst>
                  <a:path h="1066800" w="5825386">
                    <a:moveTo>
                      <a:pt x="0" y="0"/>
                    </a:moveTo>
                    <a:lnTo>
                      <a:pt x="5825386" y="0"/>
                    </a:lnTo>
                    <a:lnTo>
                      <a:pt x="5825386"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386"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8" y="0"/>
              <a:ext cx="4369040" cy="800100"/>
              <a:chOff x="0" y="0"/>
              <a:chExt cx="5825386" cy="1066800"/>
            </a:xfrm>
          </p:grpSpPr>
          <p:sp>
            <p:nvSpPr>
              <p:cNvPr name="Freeform 13" id="13"/>
              <p:cNvSpPr/>
              <p:nvPr/>
            </p:nvSpPr>
            <p:spPr>
              <a:xfrm flipH="false" flipV="false" rot="0">
                <a:off x="0" y="0"/>
                <a:ext cx="5825386" cy="1066800"/>
              </a:xfrm>
              <a:custGeom>
                <a:avLst/>
                <a:gdLst/>
                <a:ahLst/>
                <a:cxnLst/>
                <a:rect r="r" b="b" t="t" l="l"/>
                <a:pathLst>
                  <a:path h="1066800" w="5825386">
                    <a:moveTo>
                      <a:pt x="0" y="0"/>
                    </a:moveTo>
                    <a:lnTo>
                      <a:pt x="5825386" y="0"/>
                    </a:lnTo>
                    <a:lnTo>
                      <a:pt x="5825386"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386"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8" y="0"/>
              <a:ext cx="4369040" cy="800100"/>
              <a:chOff x="0" y="0"/>
              <a:chExt cx="5825386" cy="1066800"/>
            </a:xfrm>
          </p:grpSpPr>
          <p:sp>
            <p:nvSpPr>
              <p:cNvPr name="Freeform 16" id="16"/>
              <p:cNvSpPr/>
              <p:nvPr/>
            </p:nvSpPr>
            <p:spPr>
              <a:xfrm flipH="false" flipV="false" rot="0">
                <a:off x="0" y="0"/>
                <a:ext cx="5825386" cy="1066800"/>
              </a:xfrm>
              <a:custGeom>
                <a:avLst/>
                <a:gdLst/>
                <a:ahLst/>
                <a:cxnLst/>
                <a:rect r="r" b="b" t="t" l="l"/>
                <a:pathLst>
                  <a:path h="1066800" w="5825386">
                    <a:moveTo>
                      <a:pt x="0" y="0"/>
                    </a:moveTo>
                    <a:lnTo>
                      <a:pt x="5825386" y="0"/>
                    </a:lnTo>
                    <a:lnTo>
                      <a:pt x="5825386" y="1066800"/>
                    </a:lnTo>
                    <a:lnTo>
                      <a:pt x="0" y="1066800"/>
                    </a:lnTo>
                    <a:close/>
                  </a:path>
                </a:pathLst>
              </a:custGeom>
              <a:solidFill>
                <a:srgbClr val="18395B"/>
              </a:solidFill>
              <a:ln cap="sq">
                <a:noFill/>
                <a:prstDash val="solid"/>
                <a:miter/>
              </a:ln>
            </p:spPr>
          </p:sp>
          <p:sp>
            <p:nvSpPr>
              <p:cNvPr name="TextBox 17" id="17"/>
              <p:cNvSpPr txBox="true"/>
              <p:nvPr/>
            </p:nvSpPr>
            <p:spPr>
              <a:xfrm>
                <a:off x="0" y="-47625"/>
                <a:ext cx="5825386"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8" y="0"/>
              <a:ext cx="4369040" cy="800100"/>
              <a:chOff x="0" y="0"/>
              <a:chExt cx="5825386" cy="1066800"/>
            </a:xfrm>
          </p:grpSpPr>
          <p:sp>
            <p:nvSpPr>
              <p:cNvPr name="Freeform 19" id="19"/>
              <p:cNvSpPr/>
              <p:nvPr/>
            </p:nvSpPr>
            <p:spPr>
              <a:xfrm flipH="false" flipV="false" rot="0">
                <a:off x="0" y="0"/>
                <a:ext cx="5825386" cy="1066800"/>
              </a:xfrm>
              <a:custGeom>
                <a:avLst/>
                <a:gdLst/>
                <a:ahLst/>
                <a:cxnLst/>
                <a:rect r="r" b="b" t="t" l="l"/>
                <a:pathLst>
                  <a:path h="1066800" w="5825386">
                    <a:moveTo>
                      <a:pt x="0" y="0"/>
                    </a:moveTo>
                    <a:lnTo>
                      <a:pt x="5825386" y="0"/>
                    </a:lnTo>
                    <a:lnTo>
                      <a:pt x="5825386" y="1066800"/>
                    </a:lnTo>
                    <a:lnTo>
                      <a:pt x="0" y="1066800"/>
                    </a:lnTo>
                    <a:close/>
                  </a:path>
                </a:pathLst>
              </a:custGeom>
              <a:solidFill>
                <a:srgbClr val="168BE8"/>
              </a:solidFill>
              <a:ln cap="sq">
                <a:noFill/>
                <a:prstDash val="solid"/>
                <a:miter/>
              </a:ln>
            </p:spPr>
          </p:sp>
          <p:sp>
            <p:nvSpPr>
              <p:cNvPr name="TextBox 20" id="20"/>
              <p:cNvSpPr txBox="true"/>
              <p:nvPr/>
            </p:nvSpPr>
            <p:spPr>
              <a:xfrm>
                <a:off x="0" y="-47625"/>
                <a:ext cx="5825386"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8"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9553" y="209550"/>
              <a:ext cx="419200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1426" y="209550"/>
              <a:ext cx="419200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3299" y="209550"/>
              <a:ext cx="419200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35172" y="209550"/>
              <a:ext cx="419200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897045" y="209550"/>
              <a:ext cx="4192005"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39801" y="142875"/>
              <a:ext cx="1361480"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21</a:t>
              </a:r>
            </a:p>
          </p:txBody>
        </p:sp>
      </p:grpSp>
      <p:grpSp>
        <p:nvGrpSpPr>
          <p:cNvPr name="Group 30" id="30"/>
          <p:cNvGrpSpPr/>
          <p:nvPr/>
        </p:nvGrpSpPr>
        <p:grpSpPr>
          <a:xfrm rot="0">
            <a:off x="1905000" y="3190875"/>
            <a:ext cx="4381500" cy="4572000"/>
            <a:chOff x="0" y="0"/>
            <a:chExt cx="1153975" cy="1204148"/>
          </a:xfrm>
        </p:grpSpPr>
        <p:sp>
          <p:nvSpPr>
            <p:cNvPr name="Freeform 31" id="31"/>
            <p:cNvSpPr/>
            <p:nvPr/>
          </p:nvSpPr>
          <p:spPr>
            <a:xfrm flipH="false" flipV="false" rot="0">
              <a:off x="0" y="0"/>
              <a:ext cx="1153975" cy="1204148"/>
            </a:xfrm>
            <a:custGeom>
              <a:avLst/>
              <a:gdLst/>
              <a:ahLst/>
              <a:cxnLst/>
              <a:rect r="r" b="b" t="t" l="l"/>
              <a:pathLst>
                <a:path h="1204148" w="1153975">
                  <a:moveTo>
                    <a:pt x="0" y="0"/>
                  </a:moveTo>
                  <a:lnTo>
                    <a:pt x="1153975" y="0"/>
                  </a:lnTo>
                  <a:lnTo>
                    <a:pt x="1153975" y="1204148"/>
                  </a:lnTo>
                  <a:lnTo>
                    <a:pt x="0" y="1204148"/>
                  </a:lnTo>
                  <a:close/>
                </a:path>
              </a:pathLst>
            </a:custGeom>
            <a:solidFill>
              <a:srgbClr val="9ED2FA">
                <a:alpha val="29804"/>
              </a:srgbClr>
            </a:solidFill>
            <a:ln cap="sq">
              <a:noFill/>
              <a:prstDash val="solid"/>
              <a:miter/>
            </a:ln>
          </p:spPr>
        </p:sp>
        <p:sp>
          <p:nvSpPr>
            <p:cNvPr name="TextBox 32" id="32"/>
            <p:cNvSpPr txBox="true"/>
            <p:nvPr/>
          </p:nvSpPr>
          <p:spPr>
            <a:xfrm>
              <a:off x="0" y="-47625"/>
              <a:ext cx="1153975" cy="1251773"/>
            </a:xfrm>
            <a:prstGeom prst="rect">
              <a:avLst/>
            </a:prstGeom>
          </p:spPr>
          <p:txBody>
            <a:bodyPr anchor="ctr" rtlCol="false" tIns="50800" lIns="50800" bIns="50800" rIns="50800"/>
            <a:lstStyle/>
            <a:p>
              <a:pPr algn="ctr">
                <a:lnSpc>
                  <a:spcPts val="2800"/>
                </a:lnSpc>
              </a:pPr>
            </a:p>
          </p:txBody>
        </p:sp>
      </p:grpSp>
      <p:grpSp>
        <p:nvGrpSpPr>
          <p:cNvPr name="Group 33" id="33"/>
          <p:cNvGrpSpPr/>
          <p:nvPr/>
        </p:nvGrpSpPr>
        <p:grpSpPr>
          <a:xfrm rot="0">
            <a:off x="3524250" y="3524250"/>
            <a:ext cx="1143000" cy="1143000"/>
            <a:chOff x="0" y="0"/>
            <a:chExt cx="1524000" cy="1524000"/>
          </a:xfrm>
        </p:grpSpPr>
        <p:sp>
          <p:nvSpPr>
            <p:cNvPr name="Freeform 34" id="34"/>
            <p:cNvSpPr/>
            <p:nvPr/>
          </p:nvSpPr>
          <p:spPr>
            <a:xfrm flipH="false" flipV="false" rot="0">
              <a:off x="0" y="0"/>
              <a:ext cx="1524000" cy="1524000"/>
            </a:xfrm>
            <a:custGeom>
              <a:avLst/>
              <a:gdLst/>
              <a:ahLst/>
              <a:cxnLst/>
              <a:rect r="r" b="b" t="t" l="l"/>
              <a:pathLst>
                <a:path h="1524000" w="1524000">
                  <a:moveTo>
                    <a:pt x="762000" y="0"/>
                  </a:moveTo>
                  <a:cubicBezTo>
                    <a:pt x="1182841" y="0"/>
                    <a:pt x="1524000" y="341159"/>
                    <a:pt x="1524000" y="762000"/>
                  </a:cubicBezTo>
                  <a:cubicBezTo>
                    <a:pt x="1524000" y="1182841"/>
                    <a:pt x="1182841" y="1524000"/>
                    <a:pt x="762000" y="1524000"/>
                  </a:cubicBezTo>
                  <a:cubicBezTo>
                    <a:pt x="341159" y="1524000"/>
                    <a:pt x="0" y="1182841"/>
                    <a:pt x="0" y="762000"/>
                  </a:cubicBezTo>
                  <a:cubicBezTo>
                    <a:pt x="0" y="341159"/>
                    <a:pt x="341159" y="0"/>
                    <a:pt x="762000" y="0"/>
                  </a:cubicBezTo>
                  <a:close/>
                </a:path>
              </a:pathLst>
            </a:custGeom>
            <a:solidFill>
              <a:srgbClr val="18395B"/>
            </a:solidFill>
            <a:ln cap="sq">
              <a:noFill/>
              <a:prstDash val="solid"/>
              <a:miter/>
            </a:ln>
          </p:spPr>
        </p:sp>
        <p:sp>
          <p:nvSpPr>
            <p:cNvPr name="TextBox 35" id="35"/>
            <p:cNvSpPr txBox="true"/>
            <p:nvPr/>
          </p:nvSpPr>
          <p:spPr>
            <a:xfrm>
              <a:off x="0" y="-38100"/>
              <a:ext cx="1524000" cy="1562100"/>
            </a:xfrm>
            <a:prstGeom prst="rect">
              <a:avLst/>
            </a:prstGeom>
          </p:spPr>
          <p:txBody>
            <a:bodyPr anchor="ctr" rtlCol="false" tIns="50800" lIns="50800" bIns="50800" rIns="50800"/>
            <a:lstStyle/>
            <a:p>
              <a:pPr algn="ctr">
                <a:lnSpc>
                  <a:spcPts val="2940"/>
                </a:lnSpc>
              </a:pPr>
              <a:r>
                <a:rPr lang="en-US" sz="2100" b="true">
                  <a:solidFill>
                    <a:srgbClr val="FFFFFF"/>
                  </a:solidFill>
                  <a:latin typeface="Libre Franklin Bold"/>
                  <a:ea typeface="Libre Franklin Bold"/>
                  <a:cs typeface="Libre Franklin Bold"/>
                  <a:sym typeface="Libre Franklin Bold"/>
                </a:rPr>
                <a:t>01</a:t>
              </a:r>
            </a:p>
          </p:txBody>
        </p:sp>
      </p:grpSp>
      <p:grpSp>
        <p:nvGrpSpPr>
          <p:cNvPr name="Group 36" id="36"/>
          <p:cNvGrpSpPr/>
          <p:nvPr/>
        </p:nvGrpSpPr>
        <p:grpSpPr>
          <a:xfrm rot="0">
            <a:off x="6953250" y="3190875"/>
            <a:ext cx="4381500" cy="4572000"/>
            <a:chOff x="0" y="0"/>
            <a:chExt cx="1153975" cy="1204148"/>
          </a:xfrm>
        </p:grpSpPr>
        <p:sp>
          <p:nvSpPr>
            <p:cNvPr name="Freeform 37" id="37"/>
            <p:cNvSpPr/>
            <p:nvPr/>
          </p:nvSpPr>
          <p:spPr>
            <a:xfrm flipH="false" flipV="false" rot="0">
              <a:off x="0" y="0"/>
              <a:ext cx="1153975" cy="1204148"/>
            </a:xfrm>
            <a:custGeom>
              <a:avLst/>
              <a:gdLst/>
              <a:ahLst/>
              <a:cxnLst/>
              <a:rect r="r" b="b" t="t" l="l"/>
              <a:pathLst>
                <a:path h="1204148" w="1153975">
                  <a:moveTo>
                    <a:pt x="0" y="0"/>
                  </a:moveTo>
                  <a:lnTo>
                    <a:pt x="1153975" y="0"/>
                  </a:lnTo>
                  <a:lnTo>
                    <a:pt x="1153975" y="1204148"/>
                  </a:lnTo>
                  <a:lnTo>
                    <a:pt x="0" y="1204148"/>
                  </a:lnTo>
                  <a:close/>
                </a:path>
              </a:pathLst>
            </a:custGeom>
            <a:solidFill>
              <a:srgbClr val="9ED2FA">
                <a:alpha val="75686"/>
              </a:srgbClr>
            </a:solidFill>
          </p:spPr>
        </p:sp>
        <p:sp>
          <p:nvSpPr>
            <p:cNvPr name="TextBox 38" id="38"/>
            <p:cNvSpPr txBox="true"/>
            <p:nvPr/>
          </p:nvSpPr>
          <p:spPr>
            <a:xfrm>
              <a:off x="0" y="-47625"/>
              <a:ext cx="1153975" cy="1251773"/>
            </a:xfrm>
            <a:prstGeom prst="rect">
              <a:avLst/>
            </a:prstGeom>
          </p:spPr>
          <p:txBody>
            <a:bodyPr anchor="ctr" rtlCol="false" tIns="50800" lIns="50800" bIns="50800" rIns="50800"/>
            <a:lstStyle/>
            <a:p>
              <a:pPr algn="ctr">
                <a:lnSpc>
                  <a:spcPts val="2800"/>
                </a:lnSpc>
              </a:pPr>
            </a:p>
          </p:txBody>
        </p:sp>
      </p:grpSp>
      <p:grpSp>
        <p:nvGrpSpPr>
          <p:cNvPr name="Group 39" id="39"/>
          <p:cNvGrpSpPr/>
          <p:nvPr/>
        </p:nvGrpSpPr>
        <p:grpSpPr>
          <a:xfrm rot="0">
            <a:off x="8572500" y="3524250"/>
            <a:ext cx="1143000" cy="1143000"/>
            <a:chOff x="0" y="0"/>
            <a:chExt cx="1524000" cy="1524000"/>
          </a:xfrm>
        </p:grpSpPr>
        <p:sp>
          <p:nvSpPr>
            <p:cNvPr name="Freeform 40" id="40"/>
            <p:cNvSpPr/>
            <p:nvPr/>
          </p:nvSpPr>
          <p:spPr>
            <a:xfrm flipH="false" flipV="false" rot="0">
              <a:off x="0" y="0"/>
              <a:ext cx="1524000" cy="1524000"/>
            </a:xfrm>
            <a:custGeom>
              <a:avLst/>
              <a:gdLst/>
              <a:ahLst/>
              <a:cxnLst/>
              <a:rect r="r" b="b" t="t" l="l"/>
              <a:pathLst>
                <a:path h="1524000" w="1524000">
                  <a:moveTo>
                    <a:pt x="762000" y="0"/>
                  </a:moveTo>
                  <a:cubicBezTo>
                    <a:pt x="1182841" y="0"/>
                    <a:pt x="1524000" y="341159"/>
                    <a:pt x="1524000" y="762000"/>
                  </a:cubicBezTo>
                  <a:cubicBezTo>
                    <a:pt x="1524000" y="1182841"/>
                    <a:pt x="1182841" y="1524000"/>
                    <a:pt x="762000" y="1524000"/>
                  </a:cubicBezTo>
                  <a:cubicBezTo>
                    <a:pt x="341159" y="1524000"/>
                    <a:pt x="0" y="1182841"/>
                    <a:pt x="0" y="762000"/>
                  </a:cubicBezTo>
                  <a:cubicBezTo>
                    <a:pt x="0" y="341159"/>
                    <a:pt x="341159" y="0"/>
                    <a:pt x="762000" y="0"/>
                  </a:cubicBezTo>
                  <a:close/>
                </a:path>
              </a:pathLst>
            </a:custGeom>
            <a:solidFill>
              <a:srgbClr val="18395B"/>
            </a:solidFill>
            <a:ln cap="sq">
              <a:noFill/>
              <a:prstDash val="solid"/>
              <a:miter/>
            </a:ln>
          </p:spPr>
        </p:sp>
        <p:sp>
          <p:nvSpPr>
            <p:cNvPr name="TextBox 41" id="41"/>
            <p:cNvSpPr txBox="true"/>
            <p:nvPr/>
          </p:nvSpPr>
          <p:spPr>
            <a:xfrm>
              <a:off x="0" y="-38100"/>
              <a:ext cx="1524000" cy="1562100"/>
            </a:xfrm>
            <a:prstGeom prst="rect">
              <a:avLst/>
            </a:prstGeom>
          </p:spPr>
          <p:txBody>
            <a:bodyPr anchor="ctr" rtlCol="false" tIns="50800" lIns="50800" bIns="50800" rIns="50800"/>
            <a:lstStyle/>
            <a:p>
              <a:pPr algn="ctr">
                <a:lnSpc>
                  <a:spcPts val="2940"/>
                </a:lnSpc>
              </a:pPr>
              <a:r>
                <a:rPr lang="en-US" sz="2100" b="true">
                  <a:solidFill>
                    <a:srgbClr val="FFFFFF"/>
                  </a:solidFill>
                  <a:latin typeface="Libre Franklin Bold"/>
                  <a:ea typeface="Libre Franklin Bold"/>
                  <a:cs typeface="Libre Franklin Bold"/>
                  <a:sym typeface="Libre Franklin Bold"/>
                </a:rPr>
                <a:t>02</a:t>
              </a:r>
            </a:p>
          </p:txBody>
        </p:sp>
      </p:grpSp>
      <p:grpSp>
        <p:nvGrpSpPr>
          <p:cNvPr name="Group 42" id="42"/>
          <p:cNvGrpSpPr/>
          <p:nvPr/>
        </p:nvGrpSpPr>
        <p:grpSpPr>
          <a:xfrm rot="0">
            <a:off x="12001500" y="3190875"/>
            <a:ext cx="4381500" cy="4572000"/>
            <a:chOff x="0" y="0"/>
            <a:chExt cx="1153975" cy="1204148"/>
          </a:xfrm>
        </p:grpSpPr>
        <p:sp>
          <p:nvSpPr>
            <p:cNvPr name="Freeform 43" id="43"/>
            <p:cNvSpPr/>
            <p:nvPr/>
          </p:nvSpPr>
          <p:spPr>
            <a:xfrm flipH="false" flipV="false" rot="0">
              <a:off x="0" y="0"/>
              <a:ext cx="1153975" cy="1204148"/>
            </a:xfrm>
            <a:custGeom>
              <a:avLst/>
              <a:gdLst/>
              <a:ahLst/>
              <a:cxnLst/>
              <a:rect r="r" b="b" t="t" l="l"/>
              <a:pathLst>
                <a:path h="1204148" w="1153975">
                  <a:moveTo>
                    <a:pt x="0" y="0"/>
                  </a:moveTo>
                  <a:lnTo>
                    <a:pt x="1153975" y="0"/>
                  </a:lnTo>
                  <a:lnTo>
                    <a:pt x="1153975" y="1204148"/>
                  </a:lnTo>
                  <a:lnTo>
                    <a:pt x="0" y="1204148"/>
                  </a:lnTo>
                  <a:close/>
                </a:path>
              </a:pathLst>
            </a:custGeom>
            <a:solidFill>
              <a:srgbClr val="9ED2FA"/>
            </a:solidFill>
          </p:spPr>
        </p:sp>
        <p:sp>
          <p:nvSpPr>
            <p:cNvPr name="TextBox 44" id="44"/>
            <p:cNvSpPr txBox="true"/>
            <p:nvPr/>
          </p:nvSpPr>
          <p:spPr>
            <a:xfrm>
              <a:off x="0" y="-47625"/>
              <a:ext cx="1153975" cy="1251773"/>
            </a:xfrm>
            <a:prstGeom prst="rect">
              <a:avLst/>
            </a:prstGeom>
          </p:spPr>
          <p:txBody>
            <a:bodyPr anchor="ctr" rtlCol="false" tIns="50800" lIns="50800" bIns="50800" rIns="50800"/>
            <a:lstStyle/>
            <a:p>
              <a:pPr algn="ctr">
                <a:lnSpc>
                  <a:spcPts val="2800"/>
                </a:lnSpc>
              </a:pPr>
            </a:p>
          </p:txBody>
        </p:sp>
      </p:grpSp>
      <p:grpSp>
        <p:nvGrpSpPr>
          <p:cNvPr name="Group 45" id="45"/>
          <p:cNvGrpSpPr/>
          <p:nvPr/>
        </p:nvGrpSpPr>
        <p:grpSpPr>
          <a:xfrm rot="0">
            <a:off x="13620750" y="3524250"/>
            <a:ext cx="1143000" cy="1143000"/>
            <a:chOff x="0" y="0"/>
            <a:chExt cx="1524000" cy="1524000"/>
          </a:xfrm>
        </p:grpSpPr>
        <p:sp>
          <p:nvSpPr>
            <p:cNvPr name="Freeform 46" id="46"/>
            <p:cNvSpPr/>
            <p:nvPr/>
          </p:nvSpPr>
          <p:spPr>
            <a:xfrm flipH="false" flipV="false" rot="0">
              <a:off x="0" y="0"/>
              <a:ext cx="1524000" cy="1524000"/>
            </a:xfrm>
            <a:custGeom>
              <a:avLst/>
              <a:gdLst/>
              <a:ahLst/>
              <a:cxnLst/>
              <a:rect r="r" b="b" t="t" l="l"/>
              <a:pathLst>
                <a:path h="1524000" w="1524000">
                  <a:moveTo>
                    <a:pt x="762000" y="0"/>
                  </a:moveTo>
                  <a:cubicBezTo>
                    <a:pt x="1182841" y="0"/>
                    <a:pt x="1524000" y="341159"/>
                    <a:pt x="1524000" y="762000"/>
                  </a:cubicBezTo>
                  <a:cubicBezTo>
                    <a:pt x="1524000" y="1182841"/>
                    <a:pt x="1182841" y="1524000"/>
                    <a:pt x="762000" y="1524000"/>
                  </a:cubicBezTo>
                  <a:cubicBezTo>
                    <a:pt x="341159" y="1524000"/>
                    <a:pt x="0" y="1182841"/>
                    <a:pt x="0" y="762000"/>
                  </a:cubicBezTo>
                  <a:cubicBezTo>
                    <a:pt x="0" y="341159"/>
                    <a:pt x="341159" y="0"/>
                    <a:pt x="762000" y="0"/>
                  </a:cubicBezTo>
                  <a:close/>
                </a:path>
              </a:pathLst>
            </a:custGeom>
            <a:solidFill>
              <a:srgbClr val="18395B"/>
            </a:solidFill>
            <a:ln cap="sq">
              <a:noFill/>
              <a:prstDash val="solid"/>
              <a:miter/>
            </a:ln>
          </p:spPr>
        </p:sp>
        <p:sp>
          <p:nvSpPr>
            <p:cNvPr name="TextBox 47" id="47"/>
            <p:cNvSpPr txBox="true"/>
            <p:nvPr/>
          </p:nvSpPr>
          <p:spPr>
            <a:xfrm>
              <a:off x="0" y="-38100"/>
              <a:ext cx="1524000" cy="1562100"/>
            </a:xfrm>
            <a:prstGeom prst="rect">
              <a:avLst/>
            </a:prstGeom>
          </p:spPr>
          <p:txBody>
            <a:bodyPr anchor="ctr" rtlCol="false" tIns="50800" lIns="50800" bIns="50800" rIns="50800"/>
            <a:lstStyle/>
            <a:p>
              <a:pPr algn="ctr">
                <a:lnSpc>
                  <a:spcPts val="2940"/>
                </a:lnSpc>
              </a:pPr>
              <a:r>
                <a:rPr lang="en-US" sz="2100" b="true">
                  <a:solidFill>
                    <a:srgbClr val="FFFFFF"/>
                  </a:solidFill>
                  <a:latin typeface="Libre Franklin Bold"/>
                  <a:ea typeface="Libre Franklin Bold"/>
                  <a:cs typeface="Libre Franklin Bold"/>
                  <a:sym typeface="Libre Franklin Bold"/>
                </a:rPr>
                <a:t>03</a:t>
              </a:r>
            </a:p>
          </p:txBody>
        </p:sp>
      </p:grpSp>
      <p:sp>
        <p:nvSpPr>
          <p:cNvPr name="Freeform 48" id="48"/>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49" id="49"/>
          <p:cNvSpPr txBox="true"/>
          <p:nvPr/>
        </p:nvSpPr>
        <p:spPr>
          <a:xfrm rot="0">
            <a:off x="2095500" y="4953000"/>
            <a:ext cx="4000500" cy="430530"/>
          </a:xfrm>
          <a:prstGeom prst="rect">
            <a:avLst/>
          </a:prstGeom>
        </p:spPr>
        <p:txBody>
          <a:bodyPr anchor="t" rtlCol="false" tIns="0" lIns="0" bIns="0" rIns="0">
            <a:spAutoFit/>
          </a:bodyPr>
          <a:lstStyle/>
          <a:p>
            <a:pPr algn="ctr" marL="0" indent="0" lvl="0">
              <a:lnSpc>
                <a:spcPts val="3569"/>
              </a:lnSpc>
              <a:spcBef>
                <a:spcPct val="0"/>
              </a:spcBef>
            </a:pPr>
            <a:r>
              <a:rPr lang="en-US" b="true" sz="2550" strike="noStrike" u="none">
                <a:solidFill>
                  <a:srgbClr val="18395B"/>
                </a:solidFill>
                <a:latin typeface="Libre Franklin Bold"/>
                <a:ea typeface="Libre Franklin Bold"/>
                <a:cs typeface="Libre Franklin Bold"/>
                <a:sym typeface="Libre Franklin Bold"/>
              </a:rPr>
              <a:t>VINTAGE</a:t>
            </a:r>
          </a:p>
        </p:txBody>
      </p:sp>
      <p:sp>
        <p:nvSpPr>
          <p:cNvPr name="TextBox 50" id="50"/>
          <p:cNvSpPr txBox="true"/>
          <p:nvPr/>
        </p:nvSpPr>
        <p:spPr>
          <a:xfrm rot="0">
            <a:off x="2095500" y="5657850"/>
            <a:ext cx="4000500" cy="1318260"/>
          </a:xfrm>
          <a:prstGeom prst="rect">
            <a:avLst/>
          </a:prstGeom>
        </p:spPr>
        <p:txBody>
          <a:bodyPr anchor="t" rtlCol="false" tIns="0" lIns="0" bIns="0" rIns="0">
            <a:spAutoFit/>
          </a:bodyPr>
          <a:lstStyle/>
          <a:p>
            <a:pPr algn="ctr" marL="0" indent="0" lvl="0">
              <a:lnSpc>
                <a:spcPts val="3510"/>
              </a:lnSpc>
              <a:spcBef>
                <a:spcPct val="0"/>
              </a:spcBef>
            </a:pPr>
            <a:r>
              <a:rPr lang="en-US" sz="2700" strike="noStrike" u="none">
                <a:solidFill>
                  <a:srgbClr val="263746"/>
                </a:solidFill>
                <a:latin typeface="Source Sans 3"/>
                <a:ea typeface="Source Sans 3"/>
                <a:cs typeface="Source Sans 3"/>
                <a:sym typeface="Source Sans 3"/>
              </a:rPr>
              <a:t>One bank, crisis onset:</a:t>
            </a:r>
          </a:p>
          <a:p>
            <a:pPr algn="ctr" marL="0" indent="0" lvl="0">
              <a:lnSpc>
                <a:spcPts val="3510"/>
              </a:lnSpc>
              <a:spcBef>
                <a:spcPct val="0"/>
              </a:spcBef>
            </a:pPr>
            <a:r>
              <a:rPr lang="en-US" sz="2700" strike="noStrike" u="none">
                <a:solidFill>
                  <a:srgbClr val="263746"/>
                </a:solidFill>
                <a:latin typeface="Source Sans 3"/>
                <a:ea typeface="Source Sans 3"/>
                <a:cs typeface="Source Sans 3"/>
                <a:sym typeface="Source Sans 3"/>
              </a:rPr>
              <a:t>re-base probabilities, test a later period</a:t>
            </a:r>
          </a:p>
        </p:txBody>
      </p:sp>
      <p:sp>
        <p:nvSpPr>
          <p:cNvPr name="TextBox 51" id="51"/>
          <p:cNvSpPr txBox="true"/>
          <p:nvPr/>
        </p:nvSpPr>
        <p:spPr>
          <a:xfrm rot="0">
            <a:off x="7143750" y="4953000"/>
            <a:ext cx="4000500" cy="430530"/>
          </a:xfrm>
          <a:prstGeom prst="rect">
            <a:avLst/>
          </a:prstGeom>
        </p:spPr>
        <p:txBody>
          <a:bodyPr anchor="t" rtlCol="false" tIns="0" lIns="0" bIns="0" rIns="0">
            <a:spAutoFit/>
          </a:bodyPr>
          <a:lstStyle/>
          <a:p>
            <a:pPr algn="ctr" marL="0" indent="0" lvl="0">
              <a:lnSpc>
                <a:spcPts val="3569"/>
              </a:lnSpc>
              <a:spcBef>
                <a:spcPct val="0"/>
              </a:spcBef>
            </a:pPr>
            <a:r>
              <a:rPr lang="en-US" b="true" sz="2550" strike="noStrike" u="none">
                <a:solidFill>
                  <a:srgbClr val="18395B"/>
                </a:solidFill>
                <a:latin typeface="Libre Franklin Bold"/>
                <a:ea typeface="Libre Franklin Bold"/>
                <a:cs typeface="Libre Franklin Bold"/>
                <a:sym typeface="Libre Franklin Bold"/>
              </a:rPr>
              <a:t>TEST RECORD</a:t>
            </a:r>
          </a:p>
        </p:txBody>
      </p:sp>
      <p:sp>
        <p:nvSpPr>
          <p:cNvPr name="TextBox 52" id="52"/>
          <p:cNvSpPr txBox="true"/>
          <p:nvPr/>
        </p:nvSpPr>
        <p:spPr>
          <a:xfrm rot="0">
            <a:off x="7143750" y="5657850"/>
            <a:ext cx="4000500" cy="1318260"/>
          </a:xfrm>
          <a:prstGeom prst="rect">
            <a:avLst/>
          </a:prstGeom>
        </p:spPr>
        <p:txBody>
          <a:bodyPr anchor="t" rtlCol="false" tIns="0" lIns="0" bIns="0" rIns="0">
            <a:spAutoFit/>
          </a:bodyPr>
          <a:lstStyle/>
          <a:p>
            <a:pPr algn="ctr" marL="0" indent="0" lvl="0">
              <a:lnSpc>
                <a:spcPts val="3510"/>
              </a:lnSpc>
              <a:spcBef>
                <a:spcPct val="0"/>
              </a:spcBef>
            </a:pPr>
            <a:r>
              <a:rPr lang="en-US" sz="2700" strike="noStrike" u="none">
                <a:solidFill>
                  <a:srgbClr val="263746"/>
                </a:solidFill>
                <a:latin typeface="Source Sans 3"/>
                <a:ea typeface="Source Sans 3"/>
                <a:cs typeface="Source Sans 3"/>
                <a:sym typeface="Source Sans 3"/>
              </a:rPr>
              <a:t>Test read more than once, every read dated; one split; ensembles not nested</a:t>
            </a:r>
          </a:p>
        </p:txBody>
      </p:sp>
      <p:sp>
        <p:nvSpPr>
          <p:cNvPr name="TextBox 53" id="53"/>
          <p:cNvSpPr txBox="true"/>
          <p:nvPr/>
        </p:nvSpPr>
        <p:spPr>
          <a:xfrm rot="0">
            <a:off x="12192000" y="4953000"/>
            <a:ext cx="4000500" cy="430530"/>
          </a:xfrm>
          <a:prstGeom prst="rect">
            <a:avLst/>
          </a:prstGeom>
        </p:spPr>
        <p:txBody>
          <a:bodyPr anchor="t" rtlCol="false" tIns="0" lIns="0" bIns="0" rIns="0">
            <a:spAutoFit/>
          </a:bodyPr>
          <a:lstStyle/>
          <a:p>
            <a:pPr algn="ctr" marL="0" indent="0" lvl="0">
              <a:lnSpc>
                <a:spcPts val="3569"/>
              </a:lnSpc>
              <a:spcBef>
                <a:spcPct val="0"/>
              </a:spcBef>
            </a:pPr>
            <a:r>
              <a:rPr lang="en-US" b="true" sz="2550" strike="noStrike" u="none">
                <a:solidFill>
                  <a:srgbClr val="18395B"/>
                </a:solidFill>
                <a:latin typeface="Libre Franklin Bold"/>
                <a:ea typeface="Libre Franklin Bold"/>
                <a:cs typeface="Libre Franklin Bold"/>
                <a:sym typeface="Libre Franklin Bold"/>
              </a:rPr>
              <a:t>COSTS</a:t>
            </a:r>
          </a:p>
        </p:txBody>
      </p:sp>
      <p:sp>
        <p:nvSpPr>
          <p:cNvPr name="TextBox 54" id="54"/>
          <p:cNvSpPr txBox="true"/>
          <p:nvPr/>
        </p:nvSpPr>
        <p:spPr>
          <a:xfrm rot="0">
            <a:off x="12192000" y="5657850"/>
            <a:ext cx="4000500" cy="1318260"/>
          </a:xfrm>
          <a:prstGeom prst="rect">
            <a:avLst/>
          </a:prstGeom>
        </p:spPr>
        <p:txBody>
          <a:bodyPr anchor="t" rtlCol="false" tIns="0" lIns="0" bIns="0" rIns="0">
            <a:spAutoFit/>
          </a:bodyPr>
          <a:lstStyle/>
          <a:p>
            <a:pPr algn="ctr" marL="0" indent="0" lvl="0">
              <a:lnSpc>
                <a:spcPts val="3510"/>
              </a:lnSpc>
              <a:spcBef>
                <a:spcPct val="0"/>
              </a:spcBef>
            </a:pPr>
            <a:r>
              <a:rPr lang="en-US" sz="2700" strike="noStrike" u="none">
                <a:solidFill>
                  <a:srgbClr val="263746"/>
                </a:solidFill>
                <a:latin typeface="Source Sans 3"/>
                <a:ea typeface="Source Sans 3"/>
                <a:cs typeface="Source Sans 3"/>
                <a:sym typeface="Source Sans 3"/>
              </a:rPr>
              <a:t>5:1 borrowed: measure the bank’s own losses, then reset the cut-off</a:t>
            </a:r>
          </a:p>
        </p:txBody>
      </p:sp>
      <p:sp>
        <p:nvSpPr>
          <p:cNvPr name="TextBox 55" id="55"/>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Limits: one crisis vintage, a re-read test set, borrowed costs</a:t>
            </a:r>
          </a:p>
        </p:txBody>
      </p:sp>
      <p:sp>
        <p:nvSpPr>
          <p:cNvPr name="TextBox 56" id="56"/>
          <p:cNvSpPr txBox="true"/>
          <p:nvPr/>
        </p:nvSpPr>
        <p:spPr>
          <a:xfrm rot="0">
            <a:off x="990600" y="1400175"/>
            <a:ext cx="16306800" cy="429895"/>
          </a:xfrm>
          <a:prstGeom prst="rect">
            <a:avLst/>
          </a:prstGeom>
        </p:spPr>
        <p:txBody>
          <a:bodyPr anchor="t" rtlCol="false" tIns="0" lIns="0" bIns="0" rIns="0">
            <a:spAutoFit/>
          </a:bodyPr>
          <a:lstStyle/>
          <a:p>
            <a:pPr algn="l" marL="0" indent="0" lvl="0">
              <a:lnSpc>
                <a:spcPts val="3499"/>
              </a:lnSpc>
              <a:spcBef>
                <a:spcPct val="0"/>
              </a:spcBef>
            </a:pPr>
            <a:r>
              <a:rPr lang="en-US" b="true" sz="2799" strike="noStrike" u="none">
                <a:solidFill>
                  <a:srgbClr val="263746"/>
                </a:solidFill>
                <a:latin typeface="Source Sans 3 Bold"/>
                <a:ea typeface="Source Sans 3 Bold"/>
                <a:cs typeface="Source Sans 3 Bold"/>
                <a:sym typeface="Source Sans 3 Bold"/>
              </a:rPr>
              <a:t>Rank with any ensemble, set the cut-off from costs, re-base before reuse.</a:t>
            </a:r>
          </a:p>
        </p:txBody>
      </p:sp>
      <p:sp>
        <p:nvSpPr>
          <p:cNvPr name="TextBox 57" id="57"/>
          <p:cNvSpPr txBox="true"/>
          <p:nvPr/>
        </p:nvSpPr>
        <p:spPr>
          <a:xfrm rot="0">
            <a:off x="990600" y="9067800"/>
            <a:ext cx="16306800" cy="232410"/>
          </a:xfrm>
          <a:prstGeom prst="rect">
            <a:avLst/>
          </a:prstGeom>
        </p:spPr>
        <p:txBody>
          <a:bodyPr anchor="t" rtlCol="false" tIns="0" lIns="0" bIns="0" rIns="0">
            <a:spAutoFit/>
          </a:bodyPr>
          <a:lstStyle/>
          <a:p>
            <a:pPr algn="l">
              <a:lnSpc>
                <a:spcPts val="1889"/>
              </a:lnSpc>
            </a:pPr>
            <a:r>
              <a:rPr lang="en-US" sz="1350">
                <a:solidFill>
                  <a:srgbClr val="5E7182"/>
                </a:solidFill>
                <a:latin typeface="Source Sans 3"/>
                <a:ea typeface="Source Sans 3"/>
                <a:cs typeface="Source Sans 3"/>
                <a:sym typeface="Source Sans 3"/>
              </a:rPr>
              <a:t>Report §7; results/TEST_SET_LOG.md; Federal Reserve, charge-off and delinquency rates, https://www.federalreserve.gov/releases/chargeoff/delallsa.htm</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4" y="9686925"/>
            <a:ext cx="18287796" cy="600075"/>
            <a:chOff x="0" y="0"/>
            <a:chExt cx="24383727" cy="800100"/>
          </a:xfrm>
        </p:grpSpPr>
        <p:grpSp>
          <p:nvGrpSpPr>
            <p:cNvPr name="Group 6" id="6"/>
            <p:cNvGrpSpPr/>
            <p:nvPr/>
          </p:nvGrpSpPr>
          <p:grpSpPr>
            <a:xfrm rot="0">
              <a:off x="0" y="0"/>
              <a:ext cx="4368967" cy="800100"/>
              <a:chOff x="0" y="0"/>
              <a:chExt cx="5825289" cy="1066800"/>
            </a:xfrm>
          </p:grpSpPr>
          <p:sp>
            <p:nvSpPr>
              <p:cNvPr name="Freeform 7" id="7"/>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7" y="0"/>
              <a:ext cx="4368967" cy="800100"/>
              <a:chOff x="0" y="0"/>
              <a:chExt cx="5825289" cy="1066800"/>
            </a:xfrm>
          </p:grpSpPr>
          <p:sp>
            <p:nvSpPr>
              <p:cNvPr name="Freeform 10" id="10"/>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7" y="0"/>
              <a:ext cx="4368967" cy="800100"/>
              <a:chOff x="0" y="0"/>
              <a:chExt cx="5825289" cy="1066800"/>
            </a:xfrm>
          </p:grpSpPr>
          <p:sp>
            <p:nvSpPr>
              <p:cNvPr name="Freeform 13" id="13"/>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7" y="0"/>
              <a:ext cx="4368967" cy="800100"/>
              <a:chOff x="0" y="0"/>
              <a:chExt cx="5825289" cy="1066800"/>
            </a:xfrm>
          </p:grpSpPr>
          <p:sp>
            <p:nvSpPr>
              <p:cNvPr name="Freeform 16" id="16"/>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7" id="17"/>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7" y="0"/>
              <a:ext cx="4368967" cy="800100"/>
              <a:chOff x="0" y="0"/>
              <a:chExt cx="5825289" cy="1066800"/>
            </a:xfrm>
          </p:grpSpPr>
          <p:sp>
            <p:nvSpPr>
              <p:cNvPr name="Freeform 19" id="19"/>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20" id="20"/>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7"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9479"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1368"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325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3514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897036"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39833" y="142875"/>
              <a:ext cx="1361447"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A1</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31" id="31"/>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Appendix · Nested CV, Platt, Cost Sweep, Settings and References</a:t>
            </a:r>
          </a:p>
        </p:txBody>
      </p:sp>
      <p:sp>
        <p:nvSpPr>
          <p:cNvPr name="TextBox 32" id="32"/>
          <p:cNvSpPr txBox="true"/>
          <p:nvPr/>
        </p:nvSpPr>
        <p:spPr>
          <a:xfrm rot="0">
            <a:off x="990600" y="1571625"/>
            <a:ext cx="16306800" cy="6350317"/>
          </a:xfrm>
          <a:prstGeom prst="rect">
            <a:avLst/>
          </a:prstGeom>
        </p:spPr>
        <p:txBody>
          <a:bodyPr anchor="t" rtlCol="false" tIns="0" lIns="0" bIns="0" rIns="0">
            <a:spAutoFit/>
          </a:bodyPr>
          <a:lstStyle/>
          <a:p>
            <a:pPr algn="l" marL="0" indent="0" lvl="0">
              <a:lnSpc>
                <a:spcPts val="2227"/>
              </a:lnSpc>
              <a:spcBef>
                <a:spcPct val="0"/>
              </a:spcBef>
            </a:pPr>
            <a:r>
              <a:rPr lang="en-US" b="true" sz="1650" strike="noStrike" u="none">
                <a:solidFill>
                  <a:srgbClr val="263746"/>
                </a:solidFill>
                <a:latin typeface="Source Sans 3 Bold"/>
                <a:ea typeface="Source Sans 3 Bold"/>
                <a:cs typeface="Source Sans 3 Bold"/>
                <a:sym typeface="Source Sans 3 Bold"/>
              </a:rPr>
              <a:t>NESTED CV</a:t>
            </a:r>
            <a:r>
              <a:rPr lang="en-US" sz="1650" strike="noStrike" u="none">
                <a:solidFill>
                  <a:srgbClr val="263746"/>
                </a:solidFill>
                <a:latin typeface="Source Sans 3"/>
                <a:ea typeface="Source Sans 3"/>
                <a:cs typeface="Source Sans 3"/>
                <a:sym typeface="Source Sans 3"/>
              </a:rPr>
              <a:t> (RUAN, 30 Sep; reproduced 21 Oct on training rows only) — outer = the five project folds, inner 5-fold grid</a:t>
            </a:r>
          </a:p>
          <a:p>
            <a:pPr algn="l" marL="0" indent="0" lvl="0">
              <a:lnSpc>
                <a:spcPts val="2227"/>
              </a:lnSpc>
              <a:spcBef>
                <a:spcPct val="0"/>
              </a:spcBef>
            </a:pPr>
            <a:r>
              <a:rPr lang="en-US" sz="1650" strike="noStrike" u="none">
                <a:solidFill>
                  <a:srgbClr val="263746"/>
                </a:solidFill>
                <a:latin typeface="Source Sans 3"/>
                <a:ea typeface="Source Sans 3"/>
                <a:cs typeface="Source Sans 3"/>
                <a:sym typeface="Source Sans 3"/>
              </a:rPr>
              <a:t>KNN K = 101 uniform: nested AUC 0.768 (sd 0.007) → frozen choice confirmed · Logistic plain 0.760 (SE 0.005), 5:1 OOF cut-off 0.17, cross-fitted cost 12,195 → kept by the 1-SE rule · ridge 0.760 / lasso 0.760 within 1 SE · class-weighted 0.761, mean p 0.44 (mis-calibrated) · weighted + Platt 0.761, cross-fitted 5:1 cost +0.4% (12,247 vs 12,195; rule needs &gt; 1% saving) → not adopted · nested CV run for KNN and the logistic family only; ensembles not nested</a:t>
            </a:r>
          </a:p>
          <a:p>
            <a:pPr algn="l" marL="0" indent="0" lvl="0">
              <a:lnSpc>
                <a:spcPts val="2227"/>
              </a:lnSpc>
              <a:spcBef>
                <a:spcPct val="0"/>
              </a:spcBef>
            </a:pPr>
          </a:p>
          <a:p>
            <a:pPr algn="l" marL="0" indent="0" lvl="0">
              <a:lnSpc>
                <a:spcPts val="2227"/>
              </a:lnSpc>
              <a:spcBef>
                <a:spcPct val="0"/>
              </a:spcBef>
            </a:pPr>
            <a:r>
              <a:rPr lang="en-US" b="true" sz="1650" strike="noStrike" u="none">
                <a:solidFill>
                  <a:srgbClr val="263746"/>
                </a:solidFill>
                <a:latin typeface="Source Sans 3 Bold"/>
                <a:ea typeface="Source Sans 3 Bold"/>
                <a:cs typeface="Source Sans 3 Bold"/>
                <a:sym typeface="Source Sans 3 Bold"/>
              </a:rPr>
              <a:t>PLATT RECALIBRATION</a:t>
            </a:r>
            <a:r>
              <a:rPr lang="en-US" sz="1650" strike="noStrike" u="none">
                <a:solidFill>
                  <a:srgbClr val="263746"/>
                </a:solidFill>
                <a:latin typeface="Source Sans 3"/>
                <a:ea typeface="Source Sans 3"/>
                <a:cs typeface="Source Sans 3"/>
                <a:sym typeface="Source Sans 3"/>
              </a:rPr>
              <a:t> (19 Oct, nine weighted or resampled models) — maps fitted on training out-of-fold scores, thresholds cross-fitted; Brier returns to the unweighted twins (weighted XGBoost 0.177 → 0.131); 5:1 cut-offs 0.14–0.19; each calibrated version frozen at its first test scoring (19 Oct); maps fitted on training OOF only</a:t>
            </a:r>
          </a:p>
          <a:p>
            <a:pPr algn="l" marL="0" indent="0" lvl="0">
              <a:lnSpc>
                <a:spcPts val="2227"/>
              </a:lnSpc>
              <a:spcBef>
                <a:spcPct val="0"/>
              </a:spcBef>
            </a:pPr>
          </a:p>
          <a:p>
            <a:pPr algn="l" marL="0" indent="0" lvl="0">
              <a:lnSpc>
                <a:spcPts val="2227"/>
              </a:lnSpc>
              <a:spcBef>
                <a:spcPct val="0"/>
              </a:spcBef>
            </a:pPr>
            <a:r>
              <a:rPr lang="en-US" b="true" sz="1650" strike="noStrike" u="none">
                <a:solidFill>
                  <a:srgbClr val="263746"/>
                </a:solidFill>
                <a:latin typeface="Source Sans 3 Bold"/>
                <a:ea typeface="Source Sans 3 Bold"/>
                <a:cs typeface="Source Sans 3 Bold"/>
                <a:sym typeface="Source Sans 3 Bold"/>
              </a:rPr>
              <a:t>COST SWEEP</a:t>
            </a:r>
            <a:r>
              <a:rPr lang="en-US" sz="1650" strike="noStrike" u="none">
                <a:solidFill>
                  <a:srgbClr val="263746"/>
                </a:solidFill>
                <a:latin typeface="Source Sans 3"/>
                <a:ea typeface="Source Sans 3"/>
                <a:cs typeface="Source Sans 3"/>
                <a:sym typeface="Source Sans 3"/>
              </a:rPr>
              <a:t> (threshold saving vs model saving, paired bootstrap B = 1,000 on the 8,990 test rows) — 1:1: 0 vs 87 [44, 131] · 3:1: 684 [541, 830] vs 127 [47, 214] · 5:1: 1,937 [1,604, 2,218] vs 145 [−18, 299] · 10:1: 7,121 [6,395, 7,791] vs 420 [187, 646] · 20:1: 20,335 [18,909, 21,621] vs 150 [−52, 333], cut-off 0.01 flags 99.9%</a:t>
            </a:r>
          </a:p>
          <a:p>
            <a:pPr algn="l" marL="0" indent="0" lvl="0">
              <a:lnSpc>
                <a:spcPts val="2227"/>
              </a:lnSpc>
              <a:spcBef>
                <a:spcPct val="0"/>
              </a:spcBef>
            </a:pPr>
          </a:p>
          <a:p>
            <a:pPr algn="l" marL="0" indent="0" lvl="0">
              <a:lnSpc>
                <a:spcPts val="2227"/>
              </a:lnSpc>
              <a:spcBef>
                <a:spcPct val="0"/>
              </a:spcBef>
            </a:pPr>
            <a:r>
              <a:rPr lang="en-US" b="true" sz="1650" strike="noStrike" u="none">
                <a:solidFill>
                  <a:srgbClr val="263746"/>
                </a:solidFill>
                <a:latin typeface="Source Sans 3 Bold"/>
                <a:ea typeface="Source Sans 3 Bold"/>
                <a:cs typeface="Source Sans 3 Bold"/>
                <a:sym typeface="Source Sans 3 Bold"/>
              </a:rPr>
              <a:t>TUNED SETTINGS</a:t>
            </a:r>
            <a:r>
              <a:rPr lang="en-US" sz="1650" strike="noStrike" u="none">
                <a:solidFill>
                  <a:srgbClr val="263746"/>
                </a:solidFill>
                <a:latin typeface="Source Sans 3"/>
                <a:ea typeface="Source Sans 3"/>
                <a:cs typeface="Source Sans 3"/>
                <a:sym typeface="Source Sans 3"/>
              </a:rPr>
              <a:t> (5-fold CV AUC on 20,975 training rows, seed 2607526) — XGBoost depth 3, learning rate 0.03, 300 rounds · Random forest 500 trees, ≥ 20 clients per leaf, sqrt features · Pruned tree 17 leaves (cost-complexity path) · KNN K = 101 uniform · Logistic plain; L1/L2 at their CV optimum keep all 32 columns · RBF SVM C = 1, γ = 0.01, balanced weights (6,000-row tuning subsample) · MLP 32-64-32-1 with early stopping</a:t>
            </a:r>
          </a:p>
          <a:p>
            <a:pPr algn="l" marL="0" indent="0" lvl="0">
              <a:lnSpc>
                <a:spcPts val="2227"/>
              </a:lnSpc>
              <a:spcBef>
                <a:spcPct val="0"/>
              </a:spcBef>
            </a:pPr>
          </a:p>
          <a:p>
            <a:pPr algn="l" marL="0" indent="0" lvl="0">
              <a:lnSpc>
                <a:spcPts val="2227"/>
              </a:lnSpc>
              <a:spcBef>
                <a:spcPct val="0"/>
              </a:spcBef>
            </a:pPr>
            <a:r>
              <a:rPr lang="en-US" b="true" sz="1650" strike="noStrike" u="none">
                <a:solidFill>
                  <a:srgbClr val="263746"/>
                </a:solidFill>
                <a:latin typeface="Source Sans 3 Bold"/>
                <a:ea typeface="Source Sans 3 Bold"/>
                <a:cs typeface="Source Sans 3 Bold"/>
                <a:sym typeface="Source Sans 3 Bold"/>
              </a:rPr>
              <a:t>POST-FREEZE CHECKS</a:t>
            </a:r>
            <a:r>
              <a:rPr lang="en-US" sz="1650" strike="noStrike" u="none">
                <a:solidFill>
                  <a:srgbClr val="263746"/>
                </a:solidFill>
                <a:latin typeface="Source Sans 3"/>
                <a:ea typeface="Source Sans 3"/>
                <a:cs typeface="Source Sans 3"/>
                <a:sym typeface="Source Sans 3"/>
              </a:rPr>
              <a:t> (21 Oct; training CV only, never test-scored, select nothing): pay-code recoding, interaction depth, history window, demographics and fairness, monotone respecification, simple rules, cost-ratio preference, fold stability; R refits match 13 of 15 Python CV AUCs within 0.005 — results/POST_REVIEW_CHECKS.md</a:t>
            </a:r>
          </a:p>
          <a:p>
            <a:pPr algn="l" marL="0" indent="0" lvl="0">
              <a:lnSpc>
                <a:spcPts val="2227"/>
              </a:lnSpc>
              <a:spcBef>
                <a:spcPct val="0"/>
              </a:spcBef>
            </a:pPr>
          </a:p>
          <a:p>
            <a:pPr algn="l" marL="0" indent="0" lvl="0">
              <a:lnSpc>
                <a:spcPts val="2227"/>
              </a:lnSpc>
              <a:spcBef>
                <a:spcPct val="0"/>
              </a:spcBef>
            </a:pPr>
            <a:r>
              <a:rPr lang="en-US" b="true" sz="1650" strike="noStrike" u="none">
                <a:solidFill>
                  <a:srgbClr val="263746"/>
                </a:solidFill>
                <a:latin typeface="Source Sans 3 Bold"/>
                <a:ea typeface="Source Sans 3 Bold"/>
                <a:cs typeface="Source Sans 3 Bold"/>
                <a:sym typeface="Source Sans 3 Bold"/>
              </a:rPr>
              <a:t>REFERENCES</a:t>
            </a:r>
            <a:r>
              <a:rPr lang="en-US" sz="1650" strike="noStrike" u="none">
                <a:solidFill>
                  <a:srgbClr val="263746"/>
                </a:solidFill>
                <a:latin typeface="Source Sans 3"/>
                <a:ea typeface="Source Sans 3"/>
                <a:cs typeface="Source Sans 3"/>
                <a:sym typeface="Source Sans 3"/>
              </a:rPr>
              <a:t><![CDATA[ — Yeh, I.-C. & Lien, C.-H. (2009). Expert Systems with Applications 36(2) · James, Witten, Hastie & Tibshirani, An Introduction to Statistical Learning · Breiman, L. (2001). Random forests. Machine Learning 45 · Chen, T. & Guestrin, C. (2016). XGBoost. KDD · Chawla, N. V. et al. (2002). SMOTE. JAIR 16 · Lundberg, S. & Lee, S.-I. (2017). A unified approach to interpreting model predictions. NeurIPS · Platt, J. (1999). Probabilistic outputs for support vector machines · Hofmann, H. (1994). Statlog German Credit, UCI · Pedregosa, F. et al. (2011). Scikit-learn. JMLR 12 · Friedman (2001) · Nadeau & Bengio (2003) · Kleinberg, Mullainathan & Raghavan (2017) · EU AI Act 2024/1689 Annex III 5(b) · BoE & FCA (2024) · FSC Banking Bureau index-7.xlsx · CBC FSR Jun 2008 · Code, data and results: github.com/jingwen013-design/mh6805-credit-default]]></a:t>
            </a:r>
          </a:p>
        </p:txBody>
      </p:sp>
      <p:sp>
        <p:nvSpPr>
          <p:cNvPr name="TextBox 33" id="33"/>
          <p:cNvSpPr txBox="true"/>
          <p:nvPr/>
        </p:nvSpPr>
        <p:spPr>
          <a:xfrm rot="0">
            <a:off x="990600" y="9067800"/>
            <a:ext cx="16306800" cy="232410"/>
          </a:xfrm>
          <a:prstGeom prst="rect">
            <a:avLst/>
          </a:prstGeom>
        </p:spPr>
        <p:txBody>
          <a:bodyPr anchor="t" rtlCol="false" tIns="0" lIns="0" bIns="0" rIns="0">
            <a:spAutoFit/>
          </a:bodyPr>
          <a:lstStyle/>
          <a:p>
            <a:pPr algn="l">
              <a:lnSpc>
                <a:spcPts val="1889"/>
              </a:lnSpc>
            </a:pPr>
            <a:r>
              <a:rPr lang="en-US" sz="1350">
                <a:solidFill>
                  <a:srgbClr val="5E7182"/>
                </a:solidFill>
                <a:latin typeface="Source Sans 3"/>
                <a:ea typeface="Source Sans 3"/>
                <a:cs typeface="Source Sans 3"/>
                <a:sym typeface="Source Sans 3"/>
              </a:rPr>
              <a:t>results/nested_cv_summary_repro.json, recalibration.csv, threshold_vs_model_saving.csv, POST_REVIEW_CHECKS.md, r_crosscheck.csv</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990600" y="1200150"/>
            <a:ext cx="16306800" cy="28575"/>
            <a:chOff x="0" y="0"/>
            <a:chExt cx="21742400" cy="38100"/>
          </a:xfrm>
        </p:grpSpPr>
        <p:sp>
          <p:nvSpPr>
            <p:cNvPr name="Freeform 3" id="3"/>
            <p:cNvSpPr/>
            <p:nvPr/>
          </p:nvSpPr>
          <p:spPr>
            <a:xfrm flipH="false" flipV="false" rot="0">
              <a:off x="0" y="0"/>
              <a:ext cx="21742400" cy="38100"/>
            </a:xfrm>
            <a:custGeom>
              <a:avLst/>
              <a:gdLst/>
              <a:ahLst/>
              <a:cxnLst/>
              <a:rect r="r" b="b" t="t" l="l"/>
              <a:pathLst>
                <a:path h="38100" w="21742400">
                  <a:moveTo>
                    <a:pt x="0" y="0"/>
                  </a:moveTo>
                  <a:lnTo>
                    <a:pt x="21742400" y="0"/>
                  </a:lnTo>
                  <a:lnTo>
                    <a:pt x="21742400" y="38100"/>
                  </a:lnTo>
                  <a:lnTo>
                    <a:pt x="0" y="38100"/>
                  </a:lnTo>
                  <a:close/>
                </a:path>
              </a:pathLst>
            </a:custGeom>
            <a:solidFill>
              <a:srgbClr val="9CCBEC"/>
            </a:solidFill>
            <a:ln cap="sq">
              <a:noFill/>
              <a:prstDash val="solid"/>
              <a:miter/>
            </a:ln>
          </p:spPr>
        </p:sp>
        <p:sp>
          <p:nvSpPr>
            <p:cNvPr name="TextBox 4" id="4"/>
            <p:cNvSpPr txBox="true"/>
            <p:nvPr/>
          </p:nvSpPr>
          <p:spPr>
            <a:xfrm>
              <a:off x="0" y="-19050"/>
              <a:ext cx="21742400" cy="57150"/>
            </a:xfrm>
            <a:prstGeom prst="rect">
              <a:avLst/>
            </a:prstGeom>
          </p:spPr>
          <p:txBody>
            <a:bodyPr anchor="ctr" rtlCol="false" tIns="50800" lIns="50800" bIns="50800" rIns="50800"/>
            <a:lstStyle/>
            <a:p>
              <a:pPr algn="l">
                <a:lnSpc>
                  <a:spcPts val="1679"/>
                </a:lnSpc>
              </a:pPr>
            </a:p>
          </p:txBody>
        </p:sp>
      </p:grpSp>
      <p:grpSp>
        <p:nvGrpSpPr>
          <p:cNvPr name="Group 5" id="5"/>
          <p:cNvGrpSpPr/>
          <p:nvPr/>
        </p:nvGrpSpPr>
        <p:grpSpPr>
          <a:xfrm rot="0">
            <a:off x="204" y="9686925"/>
            <a:ext cx="18287796" cy="600075"/>
            <a:chOff x="0" y="0"/>
            <a:chExt cx="24383727" cy="800100"/>
          </a:xfrm>
        </p:grpSpPr>
        <p:grpSp>
          <p:nvGrpSpPr>
            <p:cNvPr name="Group 6" id="6"/>
            <p:cNvGrpSpPr/>
            <p:nvPr/>
          </p:nvGrpSpPr>
          <p:grpSpPr>
            <a:xfrm rot="0">
              <a:off x="0" y="0"/>
              <a:ext cx="4368967" cy="800100"/>
              <a:chOff x="0" y="0"/>
              <a:chExt cx="5825289" cy="1066800"/>
            </a:xfrm>
          </p:grpSpPr>
          <p:sp>
            <p:nvSpPr>
              <p:cNvPr name="Freeform 7" id="7"/>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8" id="8"/>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9" id="9"/>
            <p:cNvGrpSpPr/>
            <p:nvPr/>
          </p:nvGrpSpPr>
          <p:grpSpPr>
            <a:xfrm rot="0">
              <a:off x="4470127" y="0"/>
              <a:ext cx="4368967" cy="800100"/>
              <a:chOff x="0" y="0"/>
              <a:chExt cx="5825289" cy="1066800"/>
            </a:xfrm>
          </p:grpSpPr>
          <p:sp>
            <p:nvSpPr>
              <p:cNvPr name="Freeform 10" id="10"/>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1" id="11"/>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2" id="12"/>
            <p:cNvGrpSpPr/>
            <p:nvPr/>
          </p:nvGrpSpPr>
          <p:grpSpPr>
            <a:xfrm rot="0">
              <a:off x="8940527" y="0"/>
              <a:ext cx="4368967" cy="800100"/>
              <a:chOff x="0" y="0"/>
              <a:chExt cx="5825289" cy="1066800"/>
            </a:xfrm>
          </p:grpSpPr>
          <p:sp>
            <p:nvSpPr>
              <p:cNvPr name="Freeform 13" id="13"/>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4" id="14"/>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5" id="15"/>
            <p:cNvGrpSpPr/>
            <p:nvPr/>
          </p:nvGrpSpPr>
          <p:grpSpPr>
            <a:xfrm rot="0">
              <a:off x="13410927" y="0"/>
              <a:ext cx="4368967" cy="800100"/>
              <a:chOff x="0" y="0"/>
              <a:chExt cx="5825289" cy="1066800"/>
            </a:xfrm>
          </p:grpSpPr>
          <p:sp>
            <p:nvSpPr>
              <p:cNvPr name="Freeform 16" id="16"/>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17" id="17"/>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18" id="18"/>
            <p:cNvGrpSpPr/>
            <p:nvPr/>
          </p:nvGrpSpPr>
          <p:grpSpPr>
            <a:xfrm rot="0">
              <a:off x="17881327" y="0"/>
              <a:ext cx="4368967" cy="800100"/>
              <a:chOff x="0" y="0"/>
              <a:chExt cx="5825289" cy="1066800"/>
            </a:xfrm>
          </p:grpSpPr>
          <p:sp>
            <p:nvSpPr>
              <p:cNvPr name="Freeform 19" id="19"/>
              <p:cNvSpPr/>
              <p:nvPr/>
            </p:nvSpPr>
            <p:spPr>
              <a:xfrm flipH="false" flipV="false" rot="0">
                <a:off x="0" y="0"/>
                <a:ext cx="5825289" cy="1066800"/>
              </a:xfrm>
              <a:custGeom>
                <a:avLst/>
                <a:gdLst/>
                <a:ahLst/>
                <a:cxnLst/>
                <a:rect r="r" b="b" t="t" l="l"/>
                <a:pathLst>
                  <a:path h="1066800" w="5825289">
                    <a:moveTo>
                      <a:pt x="0" y="0"/>
                    </a:moveTo>
                    <a:lnTo>
                      <a:pt x="5825289" y="0"/>
                    </a:lnTo>
                    <a:lnTo>
                      <a:pt x="5825289" y="1066800"/>
                    </a:lnTo>
                    <a:lnTo>
                      <a:pt x="0" y="1066800"/>
                    </a:lnTo>
                    <a:close/>
                  </a:path>
                </a:pathLst>
              </a:custGeom>
              <a:solidFill>
                <a:srgbClr val="18395B"/>
              </a:solidFill>
              <a:ln cap="sq">
                <a:noFill/>
                <a:prstDash val="solid"/>
                <a:miter/>
              </a:ln>
            </p:spPr>
          </p:sp>
          <p:sp>
            <p:nvSpPr>
              <p:cNvPr name="TextBox 20" id="20"/>
              <p:cNvSpPr txBox="true"/>
              <p:nvPr/>
            </p:nvSpPr>
            <p:spPr>
              <a:xfrm>
                <a:off x="0" y="-47625"/>
                <a:ext cx="5825289" cy="1114425"/>
              </a:xfrm>
              <a:prstGeom prst="rect">
                <a:avLst/>
              </a:prstGeom>
            </p:spPr>
            <p:txBody>
              <a:bodyPr anchor="ctr" rtlCol="false" tIns="50800" lIns="50800" bIns="50800" rIns="50800"/>
              <a:lstStyle/>
              <a:p>
                <a:pPr algn="l">
                  <a:lnSpc>
                    <a:spcPts val="2800"/>
                  </a:lnSpc>
                </a:pPr>
              </a:p>
            </p:txBody>
          </p:sp>
        </p:grpSp>
        <p:grpSp>
          <p:nvGrpSpPr>
            <p:cNvPr name="Group 21" id="21"/>
            <p:cNvGrpSpPr/>
            <p:nvPr/>
          </p:nvGrpSpPr>
          <p:grpSpPr>
            <a:xfrm rot="0">
              <a:off x="22351727" y="0"/>
              <a:ext cx="2032000" cy="800100"/>
              <a:chOff x="0" y="0"/>
              <a:chExt cx="2709333" cy="1066800"/>
            </a:xfrm>
          </p:grpSpPr>
          <p:sp>
            <p:nvSpPr>
              <p:cNvPr name="Freeform 22" id="22"/>
              <p:cNvSpPr/>
              <p:nvPr/>
            </p:nvSpPr>
            <p:spPr>
              <a:xfrm flipH="false" flipV="false" rot="0">
                <a:off x="0" y="0"/>
                <a:ext cx="2709333" cy="1066800"/>
              </a:xfrm>
              <a:custGeom>
                <a:avLst/>
                <a:gdLst/>
                <a:ahLst/>
                <a:cxnLst/>
                <a:rect r="r" b="b" t="t" l="l"/>
                <a:pathLst>
                  <a:path h="1066800" w="2709333">
                    <a:moveTo>
                      <a:pt x="0" y="0"/>
                    </a:moveTo>
                    <a:lnTo>
                      <a:pt x="2709333" y="0"/>
                    </a:lnTo>
                    <a:lnTo>
                      <a:pt x="2709333" y="1066800"/>
                    </a:lnTo>
                    <a:lnTo>
                      <a:pt x="0" y="1066800"/>
                    </a:lnTo>
                    <a:close/>
                  </a:path>
                </a:pathLst>
              </a:custGeom>
              <a:solidFill>
                <a:srgbClr val="F4F8FB"/>
              </a:solidFill>
              <a:ln cap="sq">
                <a:noFill/>
                <a:prstDash val="solid"/>
                <a:miter/>
              </a:ln>
            </p:spPr>
          </p:sp>
          <p:sp>
            <p:nvSpPr>
              <p:cNvPr name="TextBox 23" id="23"/>
              <p:cNvSpPr txBox="true"/>
              <p:nvPr/>
            </p:nvSpPr>
            <p:spPr>
              <a:xfrm>
                <a:off x="0" y="-47625"/>
                <a:ext cx="2709333" cy="1114425"/>
              </a:xfrm>
              <a:prstGeom prst="rect">
                <a:avLst/>
              </a:prstGeom>
            </p:spPr>
            <p:txBody>
              <a:bodyPr anchor="ctr" rtlCol="false" tIns="50800" lIns="50800" bIns="50800" rIns="50800"/>
              <a:lstStyle/>
              <a:p>
                <a:pPr algn="l">
                  <a:lnSpc>
                    <a:spcPts val="2800"/>
                  </a:lnSpc>
                </a:pPr>
              </a:p>
            </p:txBody>
          </p:sp>
        </p:grpSp>
        <p:sp>
          <p:nvSpPr>
            <p:cNvPr name="TextBox 24" id="24"/>
            <p:cNvSpPr txBox="true"/>
            <p:nvPr/>
          </p:nvSpPr>
          <p:spPr>
            <a:xfrm rot="0">
              <a:off x="49479"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Data &amp; Problem</a:t>
              </a:r>
            </a:p>
          </p:txBody>
        </p:sp>
        <p:sp>
          <p:nvSpPr>
            <p:cNvPr name="TextBox 25" id="25"/>
            <p:cNvSpPr txBox="true"/>
            <p:nvPr/>
          </p:nvSpPr>
          <p:spPr>
            <a:xfrm rot="0">
              <a:off x="4511368"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Protocol</a:t>
              </a:r>
            </a:p>
          </p:txBody>
        </p:sp>
        <p:sp>
          <p:nvSpPr>
            <p:cNvPr name="TextBox 26" id="26"/>
            <p:cNvSpPr txBox="true"/>
            <p:nvPr/>
          </p:nvSpPr>
          <p:spPr>
            <a:xfrm rot="0">
              <a:off x="897325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Models</a:t>
              </a:r>
            </a:p>
          </p:txBody>
        </p:sp>
        <p:sp>
          <p:nvSpPr>
            <p:cNvPr name="TextBox 27" id="27"/>
            <p:cNvSpPr txBox="true"/>
            <p:nvPr/>
          </p:nvSpPr>
          <p:spPr>
            <a:xfrm rot="0">
              <a:off x="13435147"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Results</a:t>
              </a:r>
            </a:p>
          </p:txBody>
        </p:sp>
        <p:sp>
          <p:nvSpPr>
            <p:cNvPr name="TextBox 28" id="28"/>
            <p:cNvSpPr txBox="true"/>
            <p:nvPr/>
          </p:nvSpPr>
          <p:spPr>
            <a:xfrm rot="0">
              <a:off x="17897036" y="209550"/>
              <a:ext cx="4192006"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FFFFFF"/>
                  </a:solidFill>
                  <a:latin typeface="Source Sans 3 Bold"/>
                  <a:ea typeface="Source Sans 3 Bold"/>
                  <a:cs typeface="Source Sans 3 Bold"/>
                  <a:sym typeface="Source Sans 3 Bold"/>
                </a:rPr>
                <a:t>Business &amp; Future</a:t>
              </a:r>
            </a:p>
          </p:txBody>
        </p:sp>
        <p:sp>
          <p:nvSpPr>
            <p:cNvPr name="TextBox 29" id="29"/>
            <p:cNvSpPr txBox="true"/>
            <p:nvPr/>
          </p:nvSpPr>
          <p:spPr>
            <a:xfrm rot="0">
              <a:off x="22639833" y="142875"/>
              <a:ext cx="1361447" cy="449792"/>
            </a:xfrm>
            <a:prstGeom prst="rect">
              <a:avLst/>
            </a:prstGeom>
          </p:spPr>
          <p:txBody>
            <a:bodyPr anchor="t" rtlCol="false" tIns="0" lIns="0" bIns="0" rIns="0">
              <a:spAutoFit/>
            </a:bodyPr>
            <a:lstStyle/>
            <a:p>
              <a:pPr algn="ctr" marL="0" indent="0" lvl="0">
                <a:lnSpc>
                  <a:spcPts val="2800"/>
                </a:lnSpc>
                <a:spcBef>
                  <a:spcPct val="0"/>
                </a:spcBef>
              </a:pPr>
              <a:r>
                <a:rPr lang="en-US" b="true" sz="2000" strike="noStrike" u="none">
                  <a:solidFill>
                    <a:srgbClr val="18395B"/>
                  </a:solidFill>
                  <a:latin typeface="Libre Franklin Bold"/>
                  <a:ea typeface="Libre Franklin Bold"/>
                  <a:cs typeface="Libre Franklin Bold"/>
                  <a:sym typeface="Libre Franklin Bold"/>
                </a:rPr>
                <a:t>A2</a:t>
              </a:r>
            </a:p>
          </p:txBody>
        </p:sp>
      </p:grpSp>
      <p:sp>
        <p:nvSpPr>
          <p:cNvPr name="Freeform 30" id="30"/>
          <p:cNvSpPr/>
          <p:nvPr/>
        </p:nvSpPr>
        <p:spPr>
          <a:xfrm flipH="false" flipV="false" rot="0">
            <a:off x="15382875" y="438150"/>
            <a:ext cx="1914525" cy="687102"/>
          </a:xfrm>
          <a:custGeom>
            <a:avLst/>
            <a:gdLst/>
            <a:ahLst/>
            <a:cxnLst/>
            <a:rect r="r" b="b" t="t" l="l"/>
            <a:pathLst>
              <a:path h="687102" w="1914525">
                <a:moveTo>
                  <a:pt x="0" y="0"/>
                </a:moveTo>
                <a:lnTo>
                  <a:pt x="1914525" y="0"/>
                </a:lnTo>
                <a:lnTo>
                  <a:pt x="1914525" y="687102"/>
                </a:lnTo>
                <a:lnTo>
                  <a:pt x="0" y="687102"/>
                </a:lnTo>
                <a:lnTo>
                  <a:pt x="0" y="0"/>
                </a:lnTo>
                <a:close/>
              </a:path>
            </a:pathLst>
          </a:custGeom>
          <a:blipFill>
            <a:blip r:embed="rId3"/>
            <a:stretch>
              <a:fillRect l="0" t="0" r="0" b="0"/>
            </a:stretch>
          </a:blipFill>
        </p:spPr>
      </p:sp>
      <p:sp>
        <p:nvSpPr>
          <p:cNvPr name="TextBox 31" id="31"/>
          <p:cNvSpPr txBox="true"/>
          <p:nvPr/>
        </p:nvSpPr>
        <p:spPr>
          <a:xfrm rot="0">
            <a:off x="990600" y="590550"/>
            <a:ext cx="16306800" cy="481203"/>
          </a:xfrm>
          <a:prstGeom prst="rect">
            <a:avLst/>
          </a:prstGeom>
        </p:spPr>
        <p:txBody>
          <a:bodyPr anchor="t" rtlCol="false" tIns="0" lIns="0" bIns="0" rIns="0">
            <a:spAutoFit/>
          </a:bodyPr>
          <a:lstStyle/>
          <a:p>
            <a:pPr algn="l" marL="0" indent="0" lvl="0">
              <a:lnSpc>
                <a:spcPts val="3726"/>
              </a:lnSpc>
              <a:spcBef>
                <a:spcPct val="0"/>
              </a:spcBef>
            </a:pPr>
            <a:r>
              <a:rPr lang="en-US" b="true" sz="3450" strike="noStrike" u="none">
                <a:solidFill>
                  <a:srgbClr val="18395B"/>
                </a:solidFill>
                <a:latin typeface="Libre Franklin Bold"/>
                <a:ea typeface="Libre Franklin Bold"/>
                <a:cs typeface="Libre Franklin Bold"/>
                <a:sym typeface="Libre Franklin Bold"/>
              </a:rPr>
              <a:t>Appendix · Cost sweep and real-world context</a:t>
            </a:r>
          </a:p>
        </p:txBody>
      </p:sp>
      <p:sp>
        <p:nvSpPr>
          <p:cNvPr name="Freeform 32" id="32" descr="Threshold saving versus model saving across cost ratios 1:1 to 20:1, test set, reporting only"/>
          <p:cNvSpPr/>
          <p:nvPr/>
        </p:nvSpPr>
        <p:spPr>
          <a:xfrm flipH="false" flipV="false" rot="0">
            <a:off x="990600" y="1285875"/>
            <a:ext cx="8001000" cy="3555997"/>
          </a:xfrm>
          <a:custGeom>
            <a:avLst/>
            <a:gdLst/>
            <a:ahLst/>
            <a:cxnLst/>
            <a:rect r="r" b="b" t="t" l="l"/>
            <a:pathLst>
              <a:path h="3555997" w="8001000">
                <a:moveTo>
                  <a:pt x="0" y="0"/>
                </a:moveTo>
                <a:lnTo>
                  <a:pt x="8001000" y="0"/>
                </a:lnTo>
                <a:lnTo>
                  <a:pt x="8001000" y="3555997"/>
                </a:lnTo>
                <a:lnTo>
                  <a:pt x="0" y="3555997"/>
                </a:lnTo>
                <a:lnTo>
                  <a:pt x="0" y="0"/>
                </a:lnTo>
                <a:close/>
              </a:path>
            </a:pathLst>
          </a:custGeom>
          <a:blipFill>
            <a:blip r:embed="rId4"/>
            <a:stretch>
              <a:fillRect l="0" t="0" r="0" b="0"/>
            </a:stretch>
          </a:blipFill>
        </p:spPr>
      </p:sp>
      <p:sp>
        <p:nvSpPr>
          <p:cNvPr name="Freeform 33" id="33" descr="US credit-card delinquency rate 1991-2026, Federal Reserve"/>
          <p:cNvSpPr/>
          <p:nvPr/>
        </p:nvSpPr>
        <p:spPr>
          <a:xfrm flipH="false" flipV="false" rot="0">
            <a:off x="9296400" y="1285875"/>
            <a:ext cx="8001000" cy="3678622"/>
          </a:xfrm>
          <a:custGeom>
            <a:avLst/>
            <a:gdLst/>
            <a:ahLst/>
            <a:cxnLst/>
            <a:rect r="r" b="b" t="t" l="l"/>
            <a:pathLst>
              <a:path h="3678622" w="8001000">
                <a:moveTo>
                  <a:pt x="0" y="0"/>
                </a:moveTo>
                <a:lnTo>
                  <a:pt x="8001000" y="0"/>
                </a:lnTo>
                <a:lnTo>
                  <a:pt x="8001000" y="3678622"/>
                </a:lnTo>
                <a:lnTo>
                  <a:pt x="0" y="3678622"/>
                </a:lnTo>
                <a:lnTo>
                  <a:pt x="0" y="0"/>
                </a:lnTo>
                <a:close/>
              </a:path>
            </a:pathLst>
          </a:custGeom>
          <a:blipFill>
            <a:blip r:embed="rId5"/>
            <a:stretch>
              <a:fillRect l="0" t="0" r="0" b="0"/>
            </a:stretch>
          </a:blipFill>
        </p:spPr>
      </p:sp>
      <p:sp>
        <p:nvSpPr>
          <p:cNvPr name="Freeform 34" id="34" descr="EU AI Act Annex III point 5(b): creditworthiness evaluation listed as high-risk"/>
          <p:cNvSpPr/>
          <p:nvPr/>
        </p:nvSpPr>
        <p:spPr>
          <a:xfrm flipH="false" flipV="false" rot="0">
            <a:off x="990600" y="5591175"/>
            <a:ext cx="8001000" cy="3031493"/>
          </a:xfrm>
          <a:custGeom>
            <a:avLst/>
            <a:gdLst/>
            <a:ahLst/>
            <a:cxnLst/>
            <a:rect r="r" b="b" t="t" l="l"/>
            <a:pathLst>
              <a:path h="3031493" w="8001000">
                <a:moveTo>
                  <a:pt x="0" y="0"/>
                </a:moveTo>
                <a:lnTo>
                  <a:pt x="8001000" y="0"/>
                </a:lnTo>
                <a:lnTo>
                  <a:pt x="8001000" y="3031493"/>
                </a:lnTo>
                <a:lnTo>
                  <a:pt x="0" y="3031493"/>
                </a:lnTo>
                <a:lnTo>
                  <a:pt x="0" y="0"/>
                </a:lnTo>
                <a:close/>
              </a:path>
            </a:pathLst>
          </a:custGeom>
          <a:blipFill>
            <a:blip r:embed="rId6"/>
            <a:stretch>
              <a:fillRect l="0" t="0" r="0" b="0"/>
            </a:stretch>
          </a:blipFill>
        </p:spPr>
      </p:sp>
      <p:sp>
        <p:nvSpPr>
          <p:cNvPr name="Freeform 35" id="35" descr="Excerpt from BoE and FCA 2024 AI survey section 2.7 on explainability methods"/>
          <p:cNvSpPr/>
          <p:nvPr/>
        </p:nvSpPr>
        <p:spPr>
          <a:xfrm flipH="false" flipV="false" rot="0">
            <a:off x="9296400" y="5591175"/>
            <a:ext cx="8001000" cy="1297943"/>
          </a:xfrm>
          <a:custGeom>
            <a:avLst/>
            <a:gdLst/>
            <a:ahLst/>
            <a:cxnLst/>
            <a:rect r="r" b="b" t="t" l="l"/>
            <a:pathLst>
              <a:path h="1297943" w="8001000">
                <a:moveTo>
                  <a:pt x="0" y="0"/>
                </a:moveTo>
                <a:lnTo>
                  <a:pt x="8001000" y="0"/>
                </a:lnTo>
                <a:lnTo>
                  <a:pt x="8001000" y="1297943"/>
                </a:lnTo>
                <a:lnTo>
                  <a:pt x="0" y="1297943"/>
                </a:lnTo>
                <a:lnTo>
                  <a:pt x="0" y="0"/>
                </a:lnTo>
                <a:close/>
              </a:path>
            </a:pathLst>
          </a:custGeom>
          <a:blipFill>
            <a:blip r:embed="rId7"/>
            <a:stretch>
              <a:fillRect l="0" t="0" r="0" b="0"/>
            </a:stretch>
          </a:blipFill>
        </p:spPr>
      </p:sp>
      <p:sp>
        <p:nvSpPr>
          <p:cNvPr name="TextBox 36" id="36"/>
          <p:cNvSpPr txBox="true"/>
          <p:nvPr/>
        </p:nvSpPr>
        <p:spPr>
          <a:xfrm rot="0">
            <a:off x="990600" y="4876800"/>
            <a:ext cx="8001000" cy="232410"/>
          </a:xfrm>
          <a:prstGeom prst="rect">
            <a:avLst/>
          </a:prstGeom>
        </p:spPr>
        <p:txBody>
          <a:bodyPr anchor="t" rtlCol="false" tIns="0" lIns="0" bIns="0" rIns="0">
            <a:spAutoFit/>
          </a:bodyPr>
          <a:lstStyle/>
          <a:p>
            <a:pPr algn="l">
              <a:lnSpc>
                <a:spcPts val="1889"/>
              </a:lnSpc>
            </a:pPr>
            <a:r>
              <a:rPr lang="en-US" sz="1350">
                <a:solidFill>
                  <a:srgbClr val="5E7182"/>
                </a:solidFill>
                <a:latin typeface="Source Sans 3"/>
                <a:ea typeface="Source Sans 3"/>
                <a:cs typeface="Source Sans 3"/>
                <a:sym typeface="Source Sans 3"/>
              </a:rPr>
              <a:t>Test set, reporting only; results/threshold_vs_model_saving.csv</a:t>
            </a:r>
          </a:p>
        </p:txBody>
      </p:sp>
      <p:sp>
        <p:nvSpPr>
          <p:cNvPr name="TextBox 37" id="37"/>
          <p:cNvSpPr txBox="true"/>
          <p:nvPr/>
        </p:nvSpPr>
        <p:spPr>
          <a:xfrm rot="0">
            <a:off x="9296400" y="5000625"/>
            <a:ext cx="8001000" cy="470535"/>
          </a:xfrm>
          <a:prstGeom prst="rect">
            <a:avLst/>
          </a:prstGeom>
        </p:spPr>
        <p:txBody>
          <a:bodyPr anchor="t" rtlCol="false" tIns="0" lIns="0" bIns="0" rIns="0">
            <a:spAutoFit/>
          </a:bodyPr>
          <a:lstStyle/>
          <a:p>
            <a:pPr algn="l">
              <a:lnSpc>
                <a:spcPts val="1889"/>
              </a:lnSpc>
            </a:pPr>
            <a:r>
              <a:rPr lang="en-US" sz="1350">
                <a:solidFill>
                  <a:srgbClr val="5E7182"/>
                </a:solidFill>
                <a:latin typeface="Source Sans 3"/>
                <a:ea typeface="Source Sans 3"/>
                <a:cs typeface="Source Sans 3"/>
                <a:sym typeface="Source Sans 3"/>
              </a:rPr>
              <a:t>Federal Reserve, https://www.federalreserve.gov/releases/chargeoff/delallsa.htm (US analogy, 30+ days past due)</a:t>
            </a:r>
          </a:p>
        </p:txBody>
      </p:sp>
      <p:sp>
        <p:nvSpPr>
          <p:cNvPr name="TextBox 38" id="38"/>
          <p:cNvSpPr txBox="true"/>
          <p:nvPr/>
        </p:nvSpPr>
        <p:spPr>
          <a:xfrm rot="0">
            <a:off x="990600" y="8648700"/>
            <a:ext cx="8001000" cy="470535"/>
          </a:xfrm>
          <a:prstGeom prst="rect">
            <a:avLst/>
          </a:prstGeom>
        </p:spPr>
        <p:txBody>
          <a:bodyPr anchor="t" rtlCol="false" tIns="0" lIns="0" bIns="0" rIns="0">
            <a:spAutoFit/>
          </a:bodyPr>
          <a:lstStyle/>
          <a:p>
            <a:pPr algn="l">
              <a:lnSpc>
                <a:spcPts val="1889"/>
              </a:lnSpc>
            </a:pPr>
            <a:r>
              <a:rPr lang="en-US" sz="1350">
                <a:solidFill>
                  <a:srgbClr val="5E7182"/>
                </a:solidFill>
                <a:latin typeface="Source Sans 3"/>
                <a:ea typeface="Source Sans 3"/>
                <a:cs typeface="Source Sans 3"/>
                <a:sym typeface="Source Sans 3"/>
              </a:rPr>
              <a:t>Regulation (EU) 2024/1689 Annex III 5(b), https://eur-lex.europa.eu/eli/reg/2024/1689/oj (application of Annex III obligations moved to 2 Dec 2027 by Regulation (EU) 2026/1744)</a:t>
            </a:r>
          </a:p>
        </p:txBody>
      </p:sp>
      <p:sp>
        <p:nvSpPr>
          <p:cNvPr name="TextBox 39" id="39"/>
          <p:cNvSpPr txBox="true"/>
          <p:nvPr/>
        </p:nvSpPr>
        <p:spPr>
          <a:xfrm rot="0">
            <a:off x="9296400" y="6915150"/>
            <a:ext cx="8001000" cy="470535"/>
          </a:xfrm>
          <a:prstGeom prst="rect">
            <a:avLst/>
          </a:prstGeom>
        </p:spPr>
        <p:txBody>
          <a:bodyPr anchor="t" rtlCol="false" tIns="0" lIns="0" bIns="0" rIns="0">
            <a:spAutoFit/>
          </a:bodyPr>
          <a:lstStyle/>
          <a:p>
            <a:pPr algn="l">
              <a:lnSpc>
                <a:spcPts val="1889"/>
              </a:lnSpc>
            </a:pPr>
            <a:r>
              <a:rPr lang="en-US" sz="1350">
                <a:solidFill>
                  <a:srgbClr val="5E7182"/>
                </a:solidFill>
                <a:latin typeface="Source Sans 3"/>
                <a:ea typeface="Source Sans 3"/>
                <a:cs typeface="Source Sans 3"/>
                <a:sym typeface="Source Sans 3"/>
              </a:rPr>
              <a:t>BoE &amp; FCA, AI in UK financial services 2024, §2.6–2.7 (excerpt of §2.7; blue box added), https://www.bankofengland.co.uk/report/2024/artificial-intelligence-in-uk-financial-services-2024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DAHYrHOidtY</dc:identifier>
  <dcterms:modified xsi:type="dcterms:W3CDTF">2011-08-01T06:04:30Z</dcterms:modified>
  <cp:revision>1</cp:revision>
  <dc:title>MH6805 B19 Credit-Card Default Presentation v2</dc:title>
</cp:coreProperties>
</file>